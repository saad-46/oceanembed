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Relationship Id="rId21" Type="http://schemas.openxmlformats.org/officeDocument/2006/relationships/image" Target="../media/image12.png"/><Relationship Id="rId22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32.png"/><Relationship Id="rId16" Type="http://schemas.openxmlformats.org/officeDocument/2006/relationships/image" Target="../media/image8.png"/><Relationship Id="rId17" Type="http://schemas.openxmlformats.org/officeDocument/2006/relationships/image" Target="../media/image4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7.png"/><Relationship Id="rId17" Type="http://schemas.openxmlformats.org/officeDocument/2006/relationships/image" Target="../media/image25.png"/><Relationship Id="rId18" Type="http://schemas.openxmlformats.org/officeDocument/2006/relationships/image" Target="../media/image57.png"/><Relationship Id="rId19" Type="http://schemas.openxmlformats.org/officeDocument/2006/relationships/image" Target="../media/image58.png"/><Relationship Id="rId20" Type="http://schemas.openxmlformats.org/officeDocument/2006/relationships/image" Target="../media/image59.png"/><Relationship Id="rId21" Type="http://schemas.openxmlformats.org/officeDocument/2006/relationships/image" Target="../media/image60.png"/><Relationship Id="rId22" Type="http://schemas.openxmlformats.org/officeDocument/2006/relationships/image" Target="../media/image6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2.png"/><Relationship Id="rId5" Type="http://schemas.openxmlformats.org/officeDocument/2006/relationships/hyperlink" Target="https://sih.gov.in" TargetMode="External"/><Relationship Id="rId6" Type="http://schemas.openxmlformats.org/officeDocument/2006/relationships/hyperlink" Target="https://incois.gov.in/site/services/tchp.jsp" TargetMode="External"/><Relationship Id="rId7" Type="http://schemas.openxmlformats.org/officeDocument/2006/relationships/hyperlink" Target="https://doi.org/10.48670/moi-00021" TargetMode="External"/><Relationship Id="rId8" Type="http://schemas.openxmlformats.org/officeDocument/2006/relationships/hyperlink" Target="https://argopy.readthedocs.io" TargetMode="External"/><Relationship Id="rId9" Type="http://schemas.openxmlformats.org/officeDocument/2006/relationships/hyperlink" Target="https://ncei.noaa.gov" TargetMode="External"/><Relationship Id="rId10" Type="http://schemas.openxmlformats.org/officeDocument/2006/relationships/hyperlink" Target="https://metoffice.gov.uk/hadobs/en4" TargetMode="External"/><Relationship Id="rId11" Type="http://schemas.openxmlformats.org/officeDocument/2006/relationships/hyperlink" Target="https://doi.org/10.1029/2001JC000831" TargetMode="External"/><Relationship Id="rId12" Type="http://schemas.openxmlformats.org/officeDocument/2006/relationships/hyperlink" Target="https://doi.org/10.3390/rs14133198" TargetMode="External"/><Relationship Id="rId13" Type="http://schemas.openxmlformats.org/officeDocument/2006/relationships/hyperlink" Target="https://ncei.noaa.gov/products/international-best-track-archive" TargetMode="External"/><Relationship Id="rId14" Type="http://schemas.openxmlformats.org/officeDocument/2006/relationships/hyperlink" Target="https://github.com/saad-46/oceanembed" TargetMode="External"/><Relationship Id="rId15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29184" y="1024128"/>
            <a:ext cx="6492240" cy="1143000"/>
          </a:xfrm>
        </p:spPr>
        <p:txBody>
          <a:bodyPr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8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OceanSight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Seeing 1000 m beneath the ocean surface — from satellites alone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395728"/>
            <a:ext cx="6035040" cy="420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B2330"/>
                </a:solidFill>
                <a:latin typeface="Arial"/>
                <a:ea typeface="Arial"/>
                <a:cs typeface="Arial"/>
              </a:rPr>
              <a:t>Problem Statement ID – </a:t>
            </a:r>
            <a:r>
              <a:rPr sz="17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SIH26066</a:t>
            </a:r>
          </a:p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B2330"/>
                </a:solidFill>
                <a:latin typeface="Arial"/>
                <a:ea typeface="Arial"/>
                <a:cs typeface="Arial"/>
              </a:rPr>
              <a:t>Problem Statement Title – </a:t>
            </a:r>
            <a:r>
              <a:rPr sz="1500" b="0">
                <a:solidFill>
                  <a:srgbClr val="0B2F4E"/>
                </a:solidFill>
                <a:latin typeface="Arial"/>
                <a:ea typeface="Arial"/>
                <a:cs typeface="Arial"/>
              </a:rPr>
              <a:t>OceanEmbed – Satellite Embedding-Based Deep Learning Framework for Reconstruction of Subsurface Ocean Temperature from Surface Satellite Observations</a:t>
            </a:r>
          </a:p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B2330"/>
                </a:solidFill>
                <a:latin typeface="Arial"/>
                <a:ea typeface="Arial"/>
                <a:cs typeface="Arial"/>
              </a:rPr>
              <a:t>Theme – </a:t>
            </a:r>
            <a:r>
              <a:rPr sz="17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Space Technology</a:t>
            </a:r>
          </a:p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B2330"/>
                </a:solidFill>
                <a:latin typeface="Arial"/>
                <a:ea typeface="Arial"/>
                <a:cs typeface="Arial"/>
              </a:rPr>
              <a:t>PS Category – </a:t>
            </a:r>
            <a:r>
              <a:rPr sz="17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Software</a:t>
            </a:r>
          </a:p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B2330"/>
                </a:solidFill>
                <a:latin typeface="Arial"/>
                <a:ea typeface="Arial"/>
                <a:cs typeface="Arial"/>
              </a:rPr>
              <a:t>Team ID – </a:t>
            </a:r>
            <a:r>
              <a:rPr sz="17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135494</a:t>
            </a:r>
          </a:p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B2330"/>
                </a:solidFill>
                <a:latin typeface="Arial"/>
                <a:ea typeface="Arial"/>
                <a:cs typeface="Arial"/>
              </a:rPr>
              <a:t>Team Name (Registered on portal) – </a:t>
            </a:r>
            <a:r>
              <a:rPr sz="17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CodeCrafters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ctr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sz="3200" b="1">
                <a:solidFill>
                  <a:srgbClr val="0B2F4E"/>
                </a:solidFill>
                <a:latin typeface="Times New Roman"/>
                <a:ea typeface="Times New Roman"/>
                <a:cs typeface="Times New Roman"/>
              </a:rPr>
              <a:t>OceanSight</a:t>
            </a:r>
          </a:p>
          <a:p>
            <a:pPr algn="ctr"/>
            <a:r>
              <a:rPr sz="1300" b="0">
                <a:solidFill>
                  <a:srgbClr val="0E869A"/>
                </a:solidFill>
                <a:latin typeface="Arial"/>
                <a:ea typeface="Arial"/>
                <a:cs typeface="Arial"/>
              </a:rPr>
              <a:t>Daily 0–1000 m ocean temperature for the North Indian Ocean — from satellites alone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3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CodeCrafters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20040" y="1207008"/>
            <a:ext cx="7772400" cy="969264"/>
          </a:xfrm>
          <a:prstGeom prst="roundRect">
            <a:avLst>
              <a:gd name="adj" fmla="val 9433"/>
            </a:avLst>
          </a:prstGeom>
          <a:solidFill>
            <a:srgbClr val="EDF4FA"/>
          </a:solidFill>
          <a:ln w="12700">
            <a:solidFill>
              <a:srgbClr val="A9C6E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363" name="Rounded Rectangle 15362"/>
          <p:cNvSpPr/>
          <p:nvPr/>
        </p:nvSpPr>
        <p:spPr>
          <a:xfrm>
            <a:off x="448056" y="1289304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64" name="Picture 15363" descr="lightbulb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344168"/>
            <a:ext cx="164592" cy="164592"/>
          </a:xfrm>
          <a:prstGeom prst="rect">
            <a:avLst/>
          </a:prstGeom>
        </p:spPr>
      </p:pic>
      <p:sp>
        <p:nvSpPr>
          <p:cNvPr id="15365" name="TextBox 15364"/>
          <p:cNvSpPr txBox="1"/>
          <p:nvPr/>
        </p:nvSpPr>
        <p:spPr>
          <a:xfrm>
            <a:off x="795528" y="1271016"/>
            <a:ext cx="716889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Proposed Solution</a:t>
            </a:r>
            <a:r>
              <a:rPr sz="100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   Detailed explanation of the 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48056" y="1591056"/>
            <a:ext cx="751636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OceanSight </a:t>
            </a:r>
            <a:r>
              <a:rPr sz="11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reconstructs ocean temperature at </a:t>
            </a:r>
            <a:r>
              <a:rPr sz="1100" b="1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15 depths (0–1000 m), every day, on a 0.25° grid</a:t>
            </a:r>
            <a:r>
              <a:rPr sz="11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 over the Bay of Bengal &amp; Arabian Sea — using only </a:t>
            </a:r>
            <a:r>
              <a:rPr sz="1100" b="1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5 satellite surface fields</a:t>
            </a:r>
            <a:r>
              <a:rPr sz="11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 — and turns it into cyclone-heat and mixed-layer products for ocean analysts and forecasters.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320040" y="2267712"/>
            <a:ext cx="7772400" cy="1773936"/>
          </a:xfrm>
          <a:prstGeom prst="roundRect">
            <a:avLst>
              <a:gd name="adj" fmla="val 5154"/>
            </a:avLst>
          </a:prstGeom>
          <a:solidFill>
            <a:srgbClr val="EDF4FA"/>
          </a:solidFill>
          <a:ln w="12700">
            <a:solidFill>
              <a:srgbClr val="A9C6E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368" name="Rounded Rectangle 15367"/>
          <p:cNvSpPr/>
          <p:nvPr/>
        </p:nvSpPr>
        <p:spPr>
          <a:xfrm>
            <a:off x="448056" y="2350008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69" name="Picture 15368" descr="target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404872"/>
            <a:ext cx="164592" cy="164592"/>
          </a:xfrm>
          <a:prstGeom prst="rect">
            <a:avLst/>
          </a:prstGeom>
        </p:spPr>
      </p:pic>
      <p:sp>
        <p:nvSpPr>
          <p:cNvPr id="15370" name="TextBox 15369"/>
          <p:cNvSpPr txBox="1"/>
          <p:nvPr/>
        </p:nvSpPr>
        <p:spPr>
          <a:xfrm>
            <a:off x="795528" y="2331720"/>
            <a:ext cx="716889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How it addresses the problem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448056" y="2670048"/>
            <a:ext cx="2743200" cy="493776"/>
          </a:xfrm>
          <a:prstGeom prst="roundRect">
            <a:avLst>
              <a:gd name="adj" fmla="val 14814"/>
            </a:avLst>
          </a:prstGeom>
          <a:solidFill>
            <a:srgbClr val="FDF3E6"/>
          </a:solidFill>
          <a:ln w="12700">
            <a:solidFill>
              <a:srgbClr val="E9C08A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5372" name="Picture 15371" descr="triangle-alert-B36B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" y="2798064"/>
            <a:ext cx="237744" cy="237744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832103" y="2670048"/>
            <a:ext cx="2304288" cy="49377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36B00"/>
                </a:solidFill>
                <a:latin typeface="Arial"/>
                <a:ea typeface="Arial"/>
                <a:cs typeface="Arial"/>
              </a:rPr>
              <a:t>THE GAP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Floats, buoys &amp; ships sample the subsurface only at scattered points and times</a:t>
            </a:r>
          </a:p>
        </p:txBody>
      </p:sp>
      <p:sp>
        <p:nvSpPr>
          <p:cNvPr id="15374" name="Right Arrow 15373"/>
          <p:cNvSpPr/>
          <p:nvPr/>
        </p:nvSpPr>
        <p:spPr>
          <a:xfrm>
            <a:off x="3264408" y="2816352"/>
            <a:ext cx="237744" cy="201168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3575304" y="2670048"/>
            <a:ext cx="4389119" cy="493776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15875">
            <a:solidFill>
              <a:srgbClr val="0E869A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5376" name="Picture 15375" descr="satellite-0E86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6744" y="2798064"/>
            <a:ext cx="237744" cy="237744"/>
          </a:xfrm>
          <a:prstGeom prst="rect">
            <a:avLst/>
          </a:prstGeom>
        </p:spPr>
      </p:pic>
      <p:sp>
        <p:nvSpPr>
          <p:cNvPr id="15377" name="TextBox 15376"/>
          <p:cNvSpPr txBox="1"/>
          <p:nvPr/>
        </p:nvSpPr>
        <p:spPr>
          <a:xfrm>
            <a:off x="3959352" y="2670048"/>
            <a:ext cx="3950207" cy="49377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OCEANSIGHT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Satellites see the whole basin daily; a deep network learns the physical surface → subsurface link (e.g. sea-level anomaly → thermocline depth)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448056" y="3255264"/>
            <a:ext cx="113080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5379" name="Picture 15378" descr="satellite-0E86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876" y="3300984"/>
            <a:ext cx="201168" cy="201168"/>
          </a:xfrm>
          <a:prstGeom prst="rect">
            <a:avLst/>
          </a:prstGeom>
        </p:spPr>
      </p:pic>
      <p:sp>
        <p:nvSpPr>
          <p:cNvPr id="15380" name="TextBox 15379"/>
          <p:cNvSpPr txBox="1"/>
          <p:nvPr/>
        </p:nvSpPr>
        <p:spPr>
          <a:xfrm>
            <a:off x="448056" y="3511296"/>
            <a:ext cx="1130808" cy="16459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Satellite inputs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448056" y="3657600"/>
            <a:ext cx="1130808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SST · SSS · SLA ·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currents · winds</a:t>
            </a:r>
          </a:p>
        </p:txBody>
      </p:sp>
      <p:sp>
        <p:nvSpPr>
          <p:cNvPr id="15382" name="Chevron 15381"/>
          <p:cNvSpPr/>
          <p:nvPr/>
        </p:nvSpPr>
        <p:spPr>
          <a:xfrm>
            <a:off x="1610868" y="3520440"/>
            <a:ext cx="82296" cy="164592"/>
          </a:xfrm>
          <a:prstGeom prst="chevron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1725168" y="3255264"/>
            <a:ext cx="113080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5384" name="Picture 15383" descr="grid-3x3-0E86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9988" y="3300984"/>
            <a:ext cx="201168" cy="201168"/>
          </a:xfrm>
          <a:prstGeom prst="rect">
            <a:avLst/>
          </a:prstGeom>
        </p:spPr>
      </p:pic>
      <p:sp>
        <p:nvSpPr>
          <p:cNvPr id="15385" name="TextBox 15384"/>
          <p:cNvSpPr txBox="1"/>
          <p:nvPr/>
        </p:nvSpPr>
        <p:spPr>
          <a:xfrm>
            <a:off x="1725168" y="3511296"/>
            <a:ext cx="1130808" cy="16459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Harmonise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1725168" y="3657600"/>
            <a:ext cx="1130808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QC + regrid to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0.25°, daily</a:t>
            </a:r>
          </a:p>
        </p:txBody>
      </p:sp>
      <p:sp>
        <p:nvSpPr>
          <p:cNvPr id="15387" name="Chevron 15386"/>
          <p:cNvSpPr/>
          <p:nvPr/>
        </p:nvSpPr>
        <p:spPr>
          <a:xfrm>
            <a:off x="2887980" y="3520440"/>
            <a:ext cx="82296" cy="164592"/>
          </a:xfrm>
          <a:prstGeom prst="chevron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3002280" y="3255264"/>
            <a:ext cx="1130808" cy="694944"/>
          </a:xfrm>
          <a:prstGeom prst="roundRect">
            <a:avLst>
              <a:gd name="adj" fmla="val 10526"/>
            </a:avLst>
          </a:prstGeom>
          <a:solidFill>
            <a:srgbClr val="0E869A"/>
          </a:solidFill>
          <a:ln w="12700">
            <a:solidFill>
              <a:srgbClr val="0E869A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5389" name="Picture 15388" descr="brain-circuit-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7100" y="3300984"/>
            <a:ext cx="201168" cy="201168"/>
          </a:xfrm>
          <a:prstGeom prst="rect">
            <a:avLst/>
          </a:prstGeom>
        </p:spPr>
      </p:pic>
      <p:sp>
        <p:nvSpPr>
          <p:cNvPr id="15390" name="TextBox 15389"/>
          <p:cNvSpPr txBox="1"/>
          <p:nvPr/>
        </p:nvSpPr>
        <p:spPr>
          <a:xfrm>
            <a:off x="3002280" y="3511296"/>
            <a:ext cx="1130808" cy="16459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Satellite embedding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3002280" y="3657600"/>
            <a:ext cx="1130808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U-Net encoder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compresses the basin</a:t>
            </a:r>
          </a:p>
        </p:txBody>
      </p:sp>
      <p:sp>
        <p:nvSpPr>
          <p:cNvPr id="15392" name="Chevron 15391"/>
          <p:cNvSpPr/>
          <p:nvPr/>
        </p:nvSpPr>
        <p:spPr>
          <a:xfrm>
            <a:off x="4165091" y="3520440"/>
            <a:ext cx="82296" cy="164592"/>
          </a:xfrm>
          <a:prstGeom prst="chevron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93" name="Rounded Rectangle 15392"/>
          <p:cNvSpPr/>
          <p:nvPr/>
        </p:nvSpPr>
        <p:spPr>
          <a:xfrm>
            <a:off x="4279392" y="3255264"/>
            <a:ext cx="113080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5394" name="Picture 15393" descr="layers-0E869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4212" y="3300984"/>
            <a:ext cx="201168" cy="201168"/>
          </a:xfrm>
          <a:prstGeom prst="rect">
            <a:avLst/>
          </a:prstGeom>
        </p:spPr>
      </p:pic>
      <p:sp>
        <p:nvSpPr>
          <p:cNvPr id="15395" name="TextBox 15394"/>
          <p:cNvSpPr txBox="1"/>
          <p:nvPr/>
        </p:nvSpPr>
        <p:spPr>
          <a:xfrm>
            <a:off x="4279392" y="3511296"/>
            <a:ext cx="1130808" cy="16459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Reconstruct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4279392" y="3657600"/>
            <a:ext cx="1130808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15 depths, 0–1000 m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+ uncertainty</a:t>
            </a:r>
          </a:p>
        </p:txBody>
      </p:sp>
      <p:sp>
        <p:nvSpPr>
          <p:cNvPr id="15397" name="Chevron 15396"/>
          <p:cNvSpPr/>
          <p:nvPr/>
        </p:nvSpPr>
        <p:spPr>
          <a:xfrm>
            <a:off x="5442204" y="3520440"/>
            <a:ext cx="82296" cy="164592"/>
          </a:xfrm>
          <a:prstGeom prst="chevron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98" name="Rounded Rectangle 15397"/>
          <p:cNvSpPr/>
          <p:nvPr/>
        </p:nvSpPr>
        <p:spPr>
          <a:xfrm>
            <a:off x="5556504" y="3255264"/>
            <a:ext cx="113080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5399" name="Picture 15398" descr="gauge-0E869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1324" y="3300984"/>
            <a:ext cx="201168" cy="201168"/>
          </a:xfrm>
          <a:prstGeom prst="rect">
            <a:avLst/>
          </a:prstGeom>
        </p:spPr>
      </p:pic>
      <p:sp>
        <p:nvSpPr>
          <p:cNvPr id="15400" name="TextBox 15399"/>
          <p:cNvSpPr txBox="1"/>
          <p:nvPr/>
        </p:nvSpPr>
        <p:spPr>
          <a:xfrm>
            <a:off x="5556504" y="3511296"/>
            <a:ext cx="1130808" cy="16459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Derive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5556504" y="3657600"/>
            <a:ext cx="1130808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TCHP · MLD ·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D20 · D26</a:t>
            </a:r>
          </a:p>
        </p:txBody>
      </p:sp>
      <p:sp>
        <p:nvSpPr>
          <p:cNvPr id="15402" name="Chevron 15401"/>
          <p:cNvSpPr/>
          <p:nvPr/>
        </p:nvSpPr>
        <p:spPr>
          <a:xfrm>
            <a:off x="6719316" y="3520440"/>
            <a:ext cx="82296" cy="164592"/>
          </a:xfrm>
          <a:prstGeom prst="chevron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03" name="Rounded Rectangle 15402"/>
          <p:cNvSpPr/>
          <p:nvPr/>
        </p:nvSpPr>
        <p:spPr>
          <a:xfrm>
            <a:off x="6833616" y="3255264"/>
            <a:ext cx="113080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5404" name="Picture 15403" descr="monitor-0E869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98436" y="3300984"/>
            <a:ext cx="201168" cy="201168"/>
          </a:xfrm>
          <a:prstGeom prst="rect">
            <a:avLst/>
          </a:prstGeom>
        </p:spPr>
      </p:pic>
      <p:sp>
        <p:nvSpPr>
          <p:cNvPr id="15405" name="TextBox 15404"/>
          <p:cNvSpPr txBox="1"/>
          <p:nvPr/>
        </p:nvSpPr>
        <p:spPr>
          <a:xfrm>
            <a:off x="6833616" y="3511296"/>
            <a:ext cx="1130808" cy="16459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6833616" y="3657600"/>
            <a:ext cx="1130808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GIS dashboard ·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API · reports</a:t>
            </a:r>
          </a:p>
        </p:txBody>
      </p:sp>
      <p:sp>
        <p:nvSpPr>
          <p:cNvPr id="15407" name="Rounded Rectangle 15406"/>
          <p:cNvSpPr/>
          <p:nvPr/>
        </p:nvSpPr>
        <p:spPr>
          <a:xfrm>
            <a:off x="8275320" y="1207008"/>
            <a:ext cx="3611880" cy="2834639"/>
          </a:xfrm>
          <a:prstGeom prst="roundRect">
            <a:avLst>
              <a:gd name="adj" fmla="val 3225"/>
            </a:avLst>
          </a:prstGeom>
          <a:solidFill>
            <a:srgbClr val="F2F6F9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5408" name="Picture 15407" descr="map_crop_88067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66760" y="1298448"/>
            <a:ext cx="3429000" cy="1888628"/>
          </a:xfrm>
          <a:prstGeom prst="rect">
            <a:avLst/>
          </a:prstGeom>
          <a:ln w="9525">
            <a:solidFill>
              <a:srgbClr val="C9D6E2"/>
            </a:solidFill>
          </a:ln>
        </p:spPr>
      </p:pic>
      <p:sp>
        <p:nvSpPr>
          <p:cNvPr id="15409" name="TextBox 15408"/>
          <p:cNvSpPr txBox="1"/>
          <p:nvPr/>
        </p:nvSpPr>
        <p:spPr>
          <a:xfrm>
            <a:off x="8366760" y="3278516"/>
            <a:ext cx="3429000" cy="671691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Working prototype: </a:t>
            </a:r>
            <a:r>
              <a:rPr sz="85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reconstructed temperature at 100 m on 11 May 2023 (held-out year) — dark purple ≈ 17 °C to yellow ≈ 28 °C; green dots = Argo floats; white line = Cyclone Mocha track (IBTrACS)</a:t>
            </a:r>
          </a:p>
        </p:txBody>
      </p:sp>
      <p:sp>
        <p:nvSpPr>
          <p:cNvPr id="15410" name="Rounded Rectangle 15409"/>
          <p:cNvSpPr/>
          <p:nvPr/>
        </p:nvSpPr>
        <p:spPr>
          <a:xfrm>
            <a:off x="274320" y="4133087"/>
            <a:ext cx="11640312" cy="2157984"/>
          </a:xfrm>
          <a:prstGeom prst="roundRect">
            <a:avLst>
              <a:gd name="adj" fmla="val 5084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11" name="Rounded Rectangle 15410"/>
          <p:cNvSpPr/>
          <p:nvPr/>
        </p:nvSpPr>
        <p:spPr>
          <a:xfrm>
            <a:off x="457200" y="4224527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12" name="Picture 15411" descr="sparkles-FFFF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9379" y="4286707"/>
            <a:ext cx="186537" cy="186537"/>
          </a:xfrm>
          <a:prstGeom prst="rect">
            <a:avLst/>
          </a:prstGeom>
        </p:spPr>
      </p:pic>
      <p:sp>
        <p:nvSpPr>
          <p:cNvPr id="15413" name="TextBox 15412"/>
          <p:cNvSpPr txBox="1"/>
          <p:nvPr/>
        </p:nvSpPr>
        <p:spPr>
          <a:xfrm>
            <a:off x="859536" y="4206240"/>
            <a:ext cx="10881360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INNOVATION AND UNIQUENESS OF THE SOLUTION</a:t>
            </a:r>
            <a:r>
              <a:rPr sz="1100" b="0" i="0">
                <a:solidFill>
                  <a:srgbClr val="7FD3E0"/>
                </a:solidFill>
                <a:latin typeface="Arial"/>
                <a:ea typeface="Arial"/>
                <a:cs typeface="Arial"/>
              </a:rPr>
              <a:t>   —   why OceanSight is different</a:t>
            </a:r>
          </a:p>
        </p:txBody>
      </p:sp>
      <p:sp>
        <p:nvSpPr>
          <p:cNvPr id="15414" name="Rounded Rectangle 15413"/>
          <p:cNvSpPr/>
          <p:nvPr/>
        </p:nvSpPr>
        <p:spPr>
          <a:xfrm>
            <a:off x="457200" y="4608575"/>
            <a:ext cx="3648456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15" name="Oval 15414"/>
          <p:cNvSpPr/>
          <p:nvPr/>
        </p:nvSpPr>
        <p:spPr>
          <a:xfrm>
            <a:off x="585216" y="4700015"/>
            <a:ext cx="402336" cy="402336"/>
          </a:xfrm>
          <a:prstGeom prst="ellipse">
            <a:avLst/>
          </a:prstGeom>
          <a:solidFill>
            <a:srgbClr val="E3F3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16" name="Picture 15415" descr="badge-check-0E869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5683" y="4780483"/>
            <a:ext cx="241401" cy="241401"/>
          </a:xfrm>
          <a:prstGeom prst="rect">
            <a:avLst/>
          </a:prstGeom>
        </p:spPr>
      </p:pic>
      <p:sp>
        <p:nvSpPr>
          <p:cNvPr id="15417" name="TextBox 15416"/>
          <p:cNvSpPr txBox="1"/>
          <p:nvPr/>
        </p:nvSpPr>
        <p:spPr>
          <a:xfrm>
            <a:off x="1078992" y="4681727"/>
            <a:ext cx="2916936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USP 01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1078992" y="4846319"/>
            <a:ext cx="2916936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Validated beyond training data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585216" y="5120640"/>
            <a:ext cx="3392424" cy="420624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Scored against real Argo floats from a year it never saw — next to the training product's own error ceiling and an independent EN4 cross-check.</a:t>
            </a:r>
          </a:p>
        </p:txBody>
      </p:sp>
      <p:sp>
        <p:nvSpPr>
          <p:cNvPr id="15420" name="Rounded Rectangle 15419"/>
          <p:cNvSpPr/>
          <p:nvPr/>
        </p:nvSpPr>
        <p:spPr>
          <a:xfrm>
            <a:off x="548640" y="5596127"/>
            <a:ext cx="3465576" cy="310896"/>
          </a:xfrm>
          <a:prstGeom prst="roundRect">
            <a:avLst>
              <a:gd name="adj" fmla="val 23529"/>
            </a:avLst>
          </a:prstGeom>
          <a:solidFill>
            <a:srgbClr val="E3F3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21" name="TextBox 15420"/>
          <p:cNvSpPr txBox="1"/>
          <p:nvPr/>
        </p:nvSpPr>
        <p:spPr>
          <a:xfrm>
            <a:off x="603504" y="5596127"/>
            <a:ext cx="3355848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2,639  </a:t>
            </a:r>
            <a:r>
              <a:rPr sz="90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held-out Argo profiles (2023)</a:t>
            </a:r>
          </a:p>
        </p:txBody>
      </p:sp>
      <p:sp>
        <p:nvSpPr>
          <p:cNvPr id="15422" name="Rounded Rectangle 15421"/>
          <p:cNvSpPr/>
          <p:nvPr/>
        </p:nvSpPr>
        <p:spPr>
          <a:xfrm>
            <a:off x="4270248" y="4608575"/>
            <a:ext cx="3648456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23" name="Oval 15422"/>
          <p:cNvSpPr/>
          <p:nvPr/>
        </p:nvSpPr>
        <p:spPr>
          <a:xfrm>
            <a:off x="4398264" y="4700015"/>
            <a:ext cx="402336" cy="402336"/>
          </a:xfrm>
          <a:prstGeom prst="ellipse">
            <a:avLst/>
          </a:prstGeom>
          <a:solidFill>
            <a:srgbClr val="E3F3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24" name="Picture 15423" descr="crosshair-0E869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78731" y="4780483"/>
            <a:ext cx="241401" cy="241401"/>
          </a:xfrm>
          <a:prstGeom prst="rect">
            <a:avLst/>
          </a:prstGeom>
        </p:spPr>
      </p:pic>
      <p:sp>
        <p:nvSpPr>
          <p:cNvPr id="15425" name="TextBox 15424"/>
          <p:cNvSpPr txBox="1"/>
          <p:nvPr/>
        </p:nvSpPr>
        <p:spPr>
          <a:xfrm>
            <a:off x="4892040" y="4681727"/>
            <a:ext cx="2916936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USP 02</a:t>
            </a:r>
          </a:p>
        </p:txBody>
      </p:sp>
      <p:sp>
        <p:nvSpPr>
          <p:cNvPr id="15426" name="TextBox 15425"/>
          <p:cNvSpPr txBox="1"/>
          <p:nvPr/>
        </p:nvSpPr>
        <p:spPr>
          <a:xfrm>
            <a:off x="4892040" y="4846319"/>
            <a:ext cx="2916936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Calibrated to the real ocean</a:t>
            </a:r>
          </a:p>
        </p:txBody>
      </p:sp>
      <p:sp>
        <p:nvSpPr>
          <p:cNvPr id="15427" name="TextBox 15426"/>
          <p:cNvSpPr txBox="1"/>
          <p:nvPr/>
        </p:nvSpPr>
        <p:spPr>
          <a:xfrm>
            <a:off x="4398264" y="5120640"/>
            <a:ext cx="3392424" cy="420624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Every profile carries an error bar calibrated on 2022 floats that holds on 2023 — analysts can see when not to trust a value.</a:t>
            </a:r>
          </a:p>
        </p:txBody>
      </p:sp>
      <p:sp>
        <p:nvSpPr>
          <p:cNvPr id="15428" name="Rounded Rectangle 15427"/>
          <p:cNvSpPr/>
          <p:nvPr/>
        </p:nvSpPr>
        <p:spPr>
          <a:xfrm>
            <a:off x="4361688" y="5596127"/>
            <a:ext cx="3465576" cy="310896"/>
          </a:xfrm>
          <a:prstGeom prst="roundRect">
            <a:avLst>
              <a:gd name="adj" fmla="val 23529"/>
            </a:avLst>
          </a:prstGeom>
          <a:solidFill>
            <a:srgbClr val="E3F3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29" name="TextBox 15428"/>
          <p:cNvSpPr txBox="1"/>
          <p:nvPr/>
        </p:nvSpPr>
        <p:spPr>
          <a:xfrm>
            <a:off x="4416552" y="5596127"/>
            <a:ext cx="3355848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70%  </a:t>
            </a:r>
            <a:r>
              <a:rPr sz="90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of Argo values within ±1σ (ideal 68%)</a:t>
            </a:r>
          </a:p>
        </p:txBody>
      </p:sp>
      <p:sp>
        <p:nvSpPr>
          <p:cNvPr id="15430" name="Rounded Rectangle 15429"/>
          <p:cNvSpPr/>
          <p:nvPr/>
        </p:nvSpPr>
        <p:spPr>
          <a:xfrm>
            <a:off x="8083296" y="4608575"/>
            <a:ext cx="3648456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31" name="Oval 15430"/>
          <p:cNvSpPr/>
          <p:nvPr/>
        </p:nvSpPr>
        <p:spPr>
          <a:xfrm>
            <a:off x="8211312" y="4700015"/>
            <a:ext cx="402336" cy="402336"/>
          </a:xfrm>
          <a:prstGeom prst="ellipse">
            <a:avLst/>
          </a:prstGeom>
          <a:solidFill>
            <a:srgbClr val="E3F3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32" name="Picture 15431" descr="gauge-0E869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1779" y="4780483"/>
            <a:ext cx="241401" cy="241401"/>
          </a:xfrm>
          <a:prstGeom prst="rect">
            <a:avLst/>
          </a:prstGeom>
        </p:spPr>
      </p:pic>
      <p:sp>
        <p:nvSpPr>
          <p:cNvPr id="15433" name="TextBox 15432"/>
          <p:cNvSpPr txBox="1"/>
          <p:nvPr/>
        </p:nvSpPr>
        <p:spPr>
          <a:xfrm>
            <a:off x="8705088" y="4681727"/>
            <a:ext cx="2916936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USP 03</a:t>
            </a:r>
          </a:p>
        </p:txBody>
      </p:sp>
      <p:sp>
        <p:nvSpPr>
          <p:cNvPr id="15434" name="TextBox 15433"/>
          <p:cNvSpPr txBox="1"/>
          <p:nvPr/>
        </p:nvSpPr>
        <p:spPr>
          <a:xfrm>
            <a:off x="8705088" y="4846319"/>
            <a:ext cx="2916936" cy="27432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Reconstruction → decisions</a:t>
            </a:r>
          </a:p>
        </p:txBody>
      </p:sp>
      <p:sp>
        <p:nvSpPr>
          <p:cNvPr id="15435" name="TextBox 15434"/>
          <p:cNvSpPr txBox="1"/>
          <p:nvPr/>
        </p:nvSpPr>
        <p:spPr>
          <a:xfrm>
            <a:off x="8211312" y="5120640"/>
            <a:ext cx="3392424" cy="420624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Daily cyclone heat potential, mixed-layer and isotherm depths at 0.25°, replayed on real IBTrACS cyclone tracks.</a:t>
            </a:r>
          </a:p>
        </p:txBody>
      </p:sp>
      <p:sp>
        <p:nvSpPr>
          <p:cNvPr id="15436" name="Rounded Rectangle 15435"/>
          <p:cNvSpPr/>
          <p:nvPr/>
        </p:nvSpPr>
        <p:spPr>
          <a:xfrm>
            <a:off x="8174736" y="5596127"/>
            <a:ext cx="3465576" cy="310896"/>
          </a:xfrm>
          <a:prstGeom prst="roundRect">
            <a:avLst>
              <a:gd name="adj" fmla="val 23529"/>
            </a:avLst>
          </a:prstGeom>
          <a:solidFill>
            <a:srgbClr val="E3F3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37" name="TextBox 15436"/>
          <p:cNvSpPr txBox="1"/>
          <p:nvPr/>
        </p:nvSpPr>
        <p:spPr>
          <a:xfrm>
            <a:off x="8229600" y="5596127"/>
            <a:ext cx="3355848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TCHP · MLD  </a:t>
            </a:r>
            <a:r>
              <a:rPr sz="90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D20 · D26 — every day, 2019–2023</a:t>
            </a:r>
          </a:p>
        </p:txBody>
      </p:sp>
      <p:sp>
        <p:nvSpPr>
          <p:cNvPr id="15438" name="TextBox 15437"/>
          <p:cNvSpPr txBox="1"/>
          <p:nvPr/>
        </p:nvSpPr>
        <p:spPr>
          <a:xfrm>
            <a:off x="457200" y="5998463"/>
            <a:ext cx="11274552" cy="25603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1">
                <a:solidFill>
                  <a:srgbClr val="BFE3EA"/>
                </a:solidFill>
                <a:latin typeface="Arial"/>
                <a:ea typeface="Arial"/>
                <a:cs typeface="Arial"/>
              </a:rPr>
              <a:t>Satellite surface fields  →  validated, uncertainty-aware 3-D ocean temperature  →  INCOIS decision products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3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CodeCrafters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88720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1" name="Picture 17410" descr="cpu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1243584"/>
            <a:ext cx="164592" cy="164592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67512" y="1170432"/>
            <a:ext cx="3630168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Technologies to be used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0040" y="1554480"/>
            <a:ext cx="3977639" cy="521207"/>
          </a:xfrm>
          <a:prstGeom prst="roundRect">
            <a:avLst>
              <a:gd name="adj" fmla="val 14035"/>
            </a:avLst>
          </a:prstGeom>
          <a:solidFill>
            <a:srgbClr val="F2F6F9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14" name="Rounded Rectangle 17413"/>
          <p:cNvSpPr/>
          <p:nvPr/>
        </p:nvSpPr>
        <p:spPr>
          <a:xfrm>
            <a:off x="411479" y="1659636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5" name="Picture 17414" descr="satellite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" y="1721815"/>
            <a:ext cx="186537" cy="186537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795528" y="1554480"/>
            <a:ext cx="1097280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Satellite data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911095" y="1554480"/>
            <a:ext cx="2313431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NOAA OISST (SST) · SMAP + SMOS (SSS) · NOAA altimetry (SLA, currents) · NCEI Seawinds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0040" y="2147011"/>
            <a:ext cx="3977639" cy="521207"/>
          </a:xfrm>
          <a:prstGeom prst="roundRect">
            <a:avLst>
              <a:gd name="adj" fmla="val 14035"/>
            </a:avLst>
          </a:prstGeom>
          <a:solidFill>
            <a:srgbClr val="F2F6F9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19" name="Rounded Rectangle 17418"/>
          <p:cNvSpPr/>
          <p:nvPr/>
        </p:nvSpPr>
        <p:spPr>
          <a:xfrm>
            <a:off x="411479" y="2252167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0" name="Picture 17419" descr="badge-check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" y="2314346"/>
            <a:ext cx="186537" cy="186537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795528" y="2147011"/>
            <a:ext cx="1097280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Target &amp; validation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911095" y="2147011"/>
            <a:ext cx="2313431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HYCOM 1/12° analysis (GLORYS adapter built) · Argo via argopy · Met Office EN4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0040" y="2739542"/>
            <a:ext cx="3977639" cy="521207"/>
          </a:xfrm>
          <a:prstGeom prst="roundRect">
            <a:avLst>
              <a:gd name="adj" fmla="val 14035"/>
            </a:avLst>
          </a:prstGeom>
          <a:solidFill>
            <a:srgbClr val="F2F6F9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24" name="Rounded Rectangle 17423"/>
          <p:cNvSpPr/>
          <p:nvPr/>
        </p:nvSpPr>
        <p:spPr>
          <a:xfrm>
            <a:off x="411479" y="284469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5" name="Picture 17424" descr="brain-circuit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" y="2906877"/>
            <a:ext cx="186537" cy="186537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795528" y="2739542"/>
            <a:ext cx="1097280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ML / AI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911095" y="2739542"/>
            <a:ext cx="2313431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PyTorch U-Net (satellite embedding) · LightGBM baseline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20040" y="3332073"/>
            <a:ext cx="3977639" cy="521207"/>
          </a:xfrm>
          <a:prstGeom prst="roundRect">
            <a:avLst>
              <a:gd name="adj" fmla="val 14035"/>
            </a:avLst>
          </a:prstGeom>
          <a:solidFill>
            <a:srgbClr val="F2F6F9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29" name="Rounded Rectangle 17428"/>
          <p:cNvSpPr/>
          <p:nvPr/>
        </p:nvSpPr>
        <p:spPr>
          <a:xfrm>
            <a:off x="411479" y="3437229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0" name="Picture 17429" descr="database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59" y="3499408"/>
            <a:ext cx="186537" cy="186537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795528" y="3332073"/>
            <a:ext cx="1097280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Data engineering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911095" y="3332073"/>
            <a:ext cx="2313431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Python · xarray · Zarr (daily cubes) · NumPy regridding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20040" y="3924604"/>
            <a:ext cx="3977639" cy="521207"/>
          </a:xfrm>
          <a:prstGeom prst="roundRect">
            <a:avLst>
              <a:gd name="adj" fmla="val 14035"/>
            </a:avLst>
          </a:prstGeom>
          <a:solidFill>
            <a:srgbClr val="F2F6F9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34" name="Rounded Rectangle 17433"/>
          <p:cNvSpPr/>
          <p:nvPr/>
        </p:nvSpPr>
        <p:spPr>
          <a:xfrm>
            <a:off x="411479" y="4029760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5" name="Picture 17434" descr="map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59" y="4091939"/>
            <a:ext cx="186537" cy="186537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795528" y="3924604"/>
            <a:ext cx="1097280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Geospatial / DB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911095" y="3924604"/>
            <a:ext cx="2313431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PostgreSQL + PostGIS (spatial indexes, nearest-float queries)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20040" y="4517136"/>
            <a:ext cx="3977639" cy="521207"/>
          </a:xfrm>
          <a:prstGeom prst="roundRect">
            <a:avLst>
              <a:gd name="adj" fmla="val 14035"/>
            </a:avLst>
          </a:prstGeom>
          <a:solidFill>
            <a:srgbClr val="F2F6F9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39" name="Rounded Rectangle 17438"/>
          <p:cNvSpPr/>
          <p:nvPr/>
        </p:nvSpPr>
        <p:spPr>
          <a:xfrm>
            <a:off x="411479" y="4622292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0" name="Picture 17439" descr="server-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659" y="4684471"/>
            <a:ext cx="186537" cy="186537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795528" y="4517136"/>
            <a:ext cx="1097280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1911095" y="4517136"/>
            <a:ext cx="2313431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FastAPI — typed REST API, PDF/CSV reports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320040" y="5109667"/>
            <a:ext cx="3977639" cy="521207"/>
          </a:xfrm>
          <a:prstGeom prst="roundRect">
            <a:avLst>
              <a:gd name="adj" fmla="val 14035"/>
            </a:avLst>
          </a:prstGeom>
          <a:solidFill>
            <a:srgbClr val="F2F6F9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44" name="Rounded Rectangle 17443"/>
          <p:cNvSpPr/>
          <p:nvPr/>
        </p:nvSpPr>
        <p:spPr>
          <a:xfrm>
            <a:off x="411479" y="5214823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5" name="Picture 17444" descr="monitor-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659" y="5277002"/>
            <a:ext cx="186537" cy="186537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795528" y="5109667"/>
            <a:ext cx="1097280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Frontend / GIS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1911095" y="5109667"/>
            <a:ext cx="2313431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Next.js · MapLibre GL · deck.gl · Recharts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320040" y="5702198"/>
            <a:ext cx="3977639" cy="521207"/>
          </a:xfrm>
          <a:prstGeom prst="roundRect">
            <a:avLst>
              <a:gd name="adj" fmla="val 14035"/>
            </a:avLst>
          </a:prstGeom>
          <a:solidFill>
            <a:srgbClr val="F2F6F9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49" name="Rounded Rectangle 17448"/>
          <p:cNvSpPr/>
          <p:nvPr/>
        </p:nvSpPr>
        <p:spPr>
          <a:xfrm>
            <a:off x="411479" y="5807354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0" name="Picture 17449" descr="wrench-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659" y="5869533"/>
            <a:ext cx="186537" cy="186537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795528" y="5702198"/>
            <a:ext cx="1097280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1911095" y="5702198"/>
            <a:ext cx="2313431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Docker · GitHub Actions CI · 44 automated tests · CPU-only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4526280" y="1188720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4" name="Picture 17453" descr="workflow-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81144" y="1243584"/>
            <a:ext cx="164592" cy="164592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4873752" y="1170432"/>
            <a:ext cx="7013448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Methodology and process for implementation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4526280" y="1554480"/>
            <a:ext cx="107899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57" name="Oval 17456"/>
          <p:cNvSpPr/>
          <p:nvPr/>
        </p:nvSpPr>
        <p:spPr>
          <a:xfrm>
            <a:off x="4937760" y="1627632"/>
            <a:ext cx="256032" cy="256032"/>
          </a:xfrm>
          <a:prstGeom prst="ellipse">
            <a:avLst/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4937760" y="162763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526280" y="1920240"/>
            <a:ext cx="1078992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Satellite data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4526280" y="2103120"/>
            <a:ext cx="107899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5 fields · 1,826 days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(2019–2023)</a:t>
            </a:r>
          </a:p>
        </p:txBody>
      </p:sp>
      <p:sp>
        <p:nvSpPr>
          <p:cNvPr id="17461" name="Chevron 17460"/>
          <p:cNvSpPr/>
          <p:nvPr/>
        </p:nvSpPr>
        <p:spPr>
          <a:xfrm>
            <a:off x="5632704" y="1956816"/>
            <a:ext cx="73152" cy="164592"/>
          </a:xfrm>
          <a:prstGeom prst="chevron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62" name="Rounded Rectangle 17461"/>
          <p:cNvSpPr/>
          <p:nvPr/>
        </p:nvSpPr>
        <p:spPr>
          <a:xfrm>
            <a:off x="5733288" y="1554480"/>
            <a:ext cx="107899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63" name="Oval 17462"/>
          <p:cNvSpPr/>
          <p:nvPr/>
        </p:nvSpPr>
        <p:spPr>
          <a:xfrm>
            <a:off x="6144768" y="1627632"/>
            <a:ext cx="256032" cy="256032"/>
          </a:xfrm>
          <a:prstGeom prst="ellipse">
            <a:avLst/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4" name="TextBox 17463"/>
          <p:cNvSpPr txBox="1"/>
          <p:nvPr/>
        </p:nvSpPr>
        <p:spPr>
          <a:xfrm>
            <a:off x="6144768" y="162763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5733288" y="1920240"/>
            <a:ext cx="1078992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Harmonise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5733288" y="2103120"/>
            <a:ext cx="107899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QC · gap-fill ·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regrid to 0.25°</a:t>
            </a:r>
          </a:p>
        </p:txBody>
      </p:sp>
      <p:sp>
        <p:nvSpPr>
          <p:cNvPr id="17467" name="Chevron 17466"/>
          <p:cNvSpPr/>
          <p:nvPr/>
        </p:nvSpPr>
        <p:spPr>
          <a:xfrm>
            <a:off x="6839712" y="1956816"/>
            <a:ext cx="73152" cy="164592"/>
          </a:xfrm>
          <a:prstGeom prst="chevron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68" name="Rounded Rectangle 17467"/>
          <p:cNvSpPr/>
          <p:nvPr/>
        </p:nvSpPr>
        <p:spPr>
          <a:xfrm>
            <a:off x="6940296" y="1554480"/>
            <a:ext cx="107899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69" name="Oval 17468"/>
          <p:cNvSpPr/>
          <p:nvPr/>
        </p:nvSpPr>
        <p:spPr>
          <a:xfrm>
            <a:off x="7351776" y="1627632"/>
            <a:ext cx="256032" cy="256032"/>
          </a:xfrm>
          <a:prstGeom prst="ellipse">
            <a:avLst/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0" name="TextBox 17469"/>
          <p:cNvSpPr txBox="1"/>
          <p:nvPr/>
        </p:nvSpPr>
        <p:spPr>
          <a:xfrm>
            <a:off x="7351776" y="162763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6940296" y="1920240"/>
            <a:ext cx="1078992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6940296" y="2103120"/>
            <a:ext cx="107899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7 channels + lat/lon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+ season</a:t>
            </a:r>
          </a:p>
        </p:txBody>
      </p:sp>
      <p:sp>
        <p:nvSpPr>
          <p:cNvPr id="17473" name="Chevron 17472"/>
          <p:cNvSpPr/>
          <p:nvPr/>
        </p:nvSpPr>
        <p:spPr>
          <a:xfrm>
            <a:off x="8046720" y="1956816"/>
            <a:ext cx="73152" cy="164592"/>
          </a:xfrm>
          <a:prstGeom prst="chevron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74" name="Rounded Rectangle 17473"/>
          <p:cNvSpPr/>
          <p:nvPr/>
        </p:nvSpPr>
        <p:spPr>
          <a:xfrm>
            <a:off x="8147304" y="1554480"/>
            <a:ext cx="1325880" cy="969264"/>
          </a:xfrm>
          <a:prstGeom prst="roundRect">
            <a:avLst>
              <a:gd name="adj" fmla="val 7547"/>
            </a:avLst>
          </a:prstGeom>
          <a:solidFill>
            <a:srgbClr val="0E869A"/>
          </a:solidFill>
          <a:ln w="12700">
            <a:solidFill>
              <a:srgbClr val="0E86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75" name="Oval 17474"/>
          <p:cNvSpPr/>
          <p:nvPr/>
        </p:nvSpPr>
        <p:spPr>
          <a:xfrm>
            <a:off x="8682228" y="162763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6" name="TextBox 17475"/>
          <p:cNvSpPr txBox="1"/>
          <p:nvPr/>
        </p:nvSpPr>
        <p:spPr>
          <a:xfrm>
            <a:off x="8682228" y="162763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8147304" y="1920240"/>
            <a:ext cx="1325880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U-Net model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8147304" y="2103120"/>
            <a:ext cx="132588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embedding → 15 depths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uncertainty (σ)</a:t>
            </a:r>
          </a:p>
        </p:txBody>
      </p:sp>
      <p:sp>
        <p:nvSpPr>
          <p:cNvPr id="17479" name="Chevron 17478"/>
          <p:cNvSpPr/>
          <p:nvPr/>
        </p:nvSpPr>
        <p:spPr>
          <a:xfrm>
            <a:off x="9500615" y="1956816"/>
            <a:ext cx="73152" cy="164592"/>
          </a:xfrm>
          <a:prstGeom prst="chevron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80" name="Rounded Rectangle 17479"/>
          <p:cNvSpPr/>
          <p:nvPr/>
        </p:nvSpPr>
        <p:spPr>
          <a:xfrm>
            <a:off x="9601200" y="1554480"/>
            <a:ext cx="107899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81" name="Oval 17480"/>
          <p:cNvSpPr/>
          <p:nvPr/>
        </p:nvSpPr>
        <p:spPr>
          <a:xfrm>
            <a:off x="10012680" y="1627632"/>
            <a:ext cx="256032" cy="256032"/>
          </a:xfrm>
          <a:prstGeom prst="ellipse">
            <a:avLst/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82" name="TextBox 17481"/>
          <p:cNvSpPr txBox="1"/>
          <p:nvPr/>
        </p:nvSpPr>
        <p:spPr>
          <a:xfrm>
            <a:off x="10012680" y="162763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9601200" y="1920240"/>
            <a:ext cx="1078992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9601200" y="2103120"/>
            <a:ext cx="107899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held-out Argo · EN4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· σ calibration</a:t>
            </a:r>
          </a:p>
        </p:txBody>
      </p:sp>
      <p:sp>
        <p:nvSpPr>
          <p:cNvPr id="17485" name="Chevron 17484"/>
          <p:cNvSpPr/>
          <p:nvPr/>
        </p:nvSpPr>
        <p:spPr>
          <a:xfrm>
            <a:off x="10707624" y="1956816"/>
            <a:ext cx="73152" cy="164592"/>
          </a:xfrm>
          <a:prstGeom prst="chevron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86" name="Rounded Rectangle 17485"/>
          <p:cNvSpPr/>
          <p:nvPr/>
        </p:nvSpPr>
        <p:spPr>
          <a:xfrm>
            <a:off x="10808208" y="1554480"/>
            <a:ext cx="107899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87" name="Oval 17486"/>
          <p:cNvSpPr/>
          <p:nvPr/>
        </p:nvSpPr>
        <p:spPr>
          <a:xfrm>
            <a:off x="11219688" y="1627632"/>
            <a:ext cx="256032" cy="256032"/>
          </a:xfrm>
          <a:prstGeom prst="ellipse">
            <a:avLst/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88" name="TextBox 17487"/>
          <p:cNvSpPr txBox="1"/>
          <p:nvPr/>
        </p:nvSpPr>
        <p:spPr>
          <a:xfrm>
            <a:off x="11219688" y="162763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10808208" y="1920240"/>
            <a:ext cx="1078992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10808208" y="2103120"/>
            <a:ext cx="1078992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Zarr + PostGIS +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FastAPI → GIS app</a:t>
            </a:r>
          </a:p>
        </p:txBody>
      </p:sp>
      <p:pic>
        <p:nvPicPr>
          <p:cNvPr id="17491" name="Picture 17490" descr="calendar-range-0E869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6280" y="2679191"/>
            <a:ext cx="201168" cy="201168"/>
          </a:xfrm>
          <a:prstGeom prst="rect">
            <a:avLst/>
          </a:prstGeom>
        </p:spPr>
      </p:pic>
      <p:sp>
        <p:nvSpPr>
          <p:cNvPr id="17492" name="TextBox 17491"/>
          <p:cNvSpPr txBox="1"/>
          <p:nvPr/>
        </p:nvSpPr>
        <p:spPr>
          <a:xfrm>
            <a:off x="4800600" y="2651760"/>
            <a:ext cx="7086600" cy="25603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Honest evaluation — split by whole years, never random days</a:t>
            </a:r>
          </a:p>
        </p:txBody>
      </p:sp>
      <p:sp>
        <p:nvSpPr>
          <p:cNvPr id="17493" name="Rounded Rectangle 17492"/>
          <p:cNvSpPr/>
          <p:nvPr/>
        </p:nvSpPr>
        <p:spPr>
          <a:xfrm>
            <a:off x="4526280" y="2980944"/>
            <a:ext cx="1399032" cy="329184"/>
          </a:xfrm>
          <a:prstGeom prst="roundRect">
            <a:avLst>
              <a:gd name="adj" fmla="val 22222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94" name="TextBox 17493"/>
          <p:cNvSpPr txBox="1"/>
          <p:nvPr/>
        </p:nvSpPr>
        <p:spPr>
          <a:xfrm>
            <a:off x="4526280" y="2980944"/>
            <a:ext cx="139903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2019</a:t>
            </a:r>
          </a:p>
        </p:txBody>
      </p:sp>
      <p:sp>
        <p:nvSpPr>
          <p:cNvPr id="17495" name="Rounded Rectangle 17494"/>
          <p:cNvSpPr/>
          <p:nvPr/>
        </p:nvSpPr>
        <p:spPr>
          <a:xfrm>
            <a:off x="6016752" y="2980944"/>
            <a:ext cx="1399032" cy="329184"/>
          </a:xfrm>
          <a:prstGeom prst="roundRect">
            <a:avLst>
              <a:gd name="adj" fmla="val 22222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96" name="TextBox 17495"/>
          <p:cNvSpPr txBox="1"/>
          <p:nvPr/>
        </p:nvSpPr>
        <p:spPr>
          <a:xfrm>
            <a:off x="6016752" y="2980944"/>
            <a:ext cx="139903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2020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7507224" y="2980944"/>
            <a:ext cx="1399032" cy="329184"/>
          </a:xfrm>
          <a:prstGeom prst="roundRect">
            <a:avLst>
              <a:gd name="adj" fmla="val 22222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98" name="TextBox 17497"/>
          <p:cNvSpPr txBox="1"/>
          <p:nvPr/>
        </p:nvSpPr>
        <p:spPr>
          <a:xfrm>
            <a:off x="7507224" y="2980944"/>
            <a:ext cx="139903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17499" name="Rounded Rectangle 17498"/>
          <p:cNvSpPr/>
          <p:nvPr/>
        </p:nvSpPr>
        <p:spPr>
          <a:xfrm>
            <a:off x="8997696" y="2980944"/>
            <a:ext cx="1399032" cy="329184"/>
          </a:xfrm>
          <a:prstGeom prst="roundRect">
            <a:avLst>
              <a:gd name="adj" fmla="val 22222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500" name="TextBox 17499"/>
          <p:cNvSpPr txBox="1"/>
          <p:nvPr/>
        </p:nvSpPr>
        <p:spPr>
          <a:xfrm>
            <a:off x="8997696" y="2980944"/>
            <a:ext cx="139903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2022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10488168" y="2980944"/>
            <a:ext cx="1399032" cy="329184"/>
          </a:xfrm>
          <a:prstGeom prst="roundRect">
            <a:avLst>
              <a:gd name="adj" fmla="val 22222"/>
            </a:avLst>
          </a:prstGeom>
          <a:solidFill>
            <a:srgbClr val="B36B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502" name="TextBox 17501"/>
          <p:cNvSpPr txBox="1"/>
          <p:nvPr/>
        </p:nvSpPr>
        <p:spPr>
          <a:xfrm>
            <a:off x="10488168" y="2980944"/>
            <a:ext cx="139903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17503" name="TextBox 17502"/>
          <p:cNvSpPr txBox="1"/>
          <p:nvPr/>
        </p:nvSpPr>
        <p:spPr>
          <a:xfrm>
            <a:off x="4526280" y="3337560"/>
            <a:ext cx="4379976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TRAIN — model fitting, normalisation, climatology</a:t>
            </a:r>
          </a:p>
        </p:txBody>
      </p:sp>
      <p:sp>
        <p:nvSpPr>
          <p:cNvPr id="17504" name="TextBox 17503"/>
          <p:cNvSpPr txBox="1"/>
          <p:nvPr/>
        </p:nvSpPr>
        <p:spPr>
          <a:xfrm>
            <a:off x="8997696" y="3337560"/>
            <a:ext cx="1399032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VALIDATE — early stop</a:t>
            </a:r>
          </a:p>
        </p:txBody>
      </p:sp>
      <p:sp>
        <p:nvSpPr>
          <p:cNvPr id="17505" name="TextBox 17504"/>
          <p:cNvSpPr txBox="1"/>
          <p:nvPr/>
        </p:nvSpPr>
        <p:spPr>
          <a:xfrm>
            <a:off x="10488168" y="3337560"/>
            <a:ext cx="1399032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B36B00"/>
                </a:solidFill>
                <a:latin typeface="Arial"/>
                <a:ea typeface="Arial"/>
                <a:cs typeface="Arial"/>
              </a:rPr>
              <a:t>TEST — fully held out</a:t>
            </a:r>
          </a:p>
        </p:txBody>
      </p:sp>
      <p:pic>
        <p:nvPicPr>
          <p:cNvPr id="17506" name="Picture 17505" descr="scale-0E869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6280" y="3703320"/>
            <a:ext cx="201168" cy="201168"/>
          </a:xfrm>
          <a:prstGeom prst="rect">
            <a:avLst/>
          </a:prstGeom>
        </p:spPr>
      </p:pic>
      <p:sp>
        <p:nvSpPr>
          <p:cNvPr id="17507" name="TextBox 17506"/>
          <p:cNvSpPr txBox="1"/>
          <p:nvPr/>
        </p:nvSpPr>
        <p:spPr>
          <a:xfrm>
            <a:off x="4800600" y="3675887"/>
            <a:ext cx="7086600" cy="25603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Models, compared side by side — the deep model has to earn its place</a:t>
            </a:r>
          </a:p>
        </p:txBody>
      </p:sp>
      <p:sp>
        <p:nvSpPr>
          <p:cNvPr id="17508" name="Rounded Rectangle 17507"/>
          <p:cNvSpPr/>
          <p:nvPr/>
        </p:nvSpPr>
        <p:spPr>
          <a:xfrm>
            <a:off x="4526280" y="4005072"/>
            <a:ext cx="22707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09" name="Rounded Rectangle 17508"/>
          <p:cNvSpPr/>
          <p:nvPr/>
        </p:nvSpPr>
        <p:spPr>
          <a:xfrm>
            <a:off x="4617720" y="4224528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10" name="Picture 17509" descr="chart-line-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87214" y="4294022"/>
            <a:ext cx="208483" cy="208483"/>
          </a:xfrm>
          <a:prstGeom prst="rect">
            <a:avLst/>
          </a:prstGeom>
        </p:spPr>
      </p:pic>
      <p:sp>
        <p:nvSpPr>
          <p:cNvPr id="17511" name="TextBox 17510"/>
          <p:cNvSpPr txBox="1"/>
          <p:nvPr/>
        </p:nvSpPr>
        <p:spPr>
          <a:xfrm>
            <a:off x="5038344" y="4023359"/>
            <a:ext cx="1703832" cy="74980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Seasonal climatology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harmonic fit per cell &amp; depth — the floor to beat</a:t>
            </a:r>
          </a:p>
        </p:txBody>
      </p:sp>
      <p:sp>
        <p:nvSpPr>
          <p:cNvPr id="17512" name="Right Arrow 17511"/>
          <p:cNvSpPr/>
          <p:nvPr/>
        </p:nvSpPr>
        <p:spPr>
          <a:xfrm>
            <a:off x="6842760" y="4306824"/>
            <a:ext cx="182880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13" name="Rounded Rectangle 17512"/>
          <p:cNvSpPr/>
          <p:nvPr/>
        </p:nvSpPr>
        <p:spPr>
          <a:xfrm>
            <a:off x="7071360" y="4005072"/>
            <a:ext cx="22707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14" name="Rounded Rectangle 17513"/>
          <p:cNvSpPr/>
          <p:nvPr/>
        </p:nvSpPr>
        <p:spPr>
          <a:xfrm>
            <a:off x="7162800" y="4224528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15" name="Picture 17514" descr="network-FFFFF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2294" y="4294022"/>
            <a:ext cx="208483" cy="208483"/>
          </a:xfrm>
          <a:prstGeom prst="rect">
            <a:avLst/>
          </a:prstGeom>
        </p:spPr>
      </p:pic>
      <p:sp>
        <p:nvSpPr>
          <p:cNvPr id="17516" name="TextBox 17515"/>
          <p:cNvSpPr txBox="1"/>
          <p:nvPr/>
        </p:nvSpPr>
        <p:spPr>
          <a:xfrm>
            <a:off x="7583424" y="4023359"/>
            <a:ext cx="1703832" cy="74980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LightGBM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one model per depth — fast, interpretable baseline</a:t>
            </a:r>
          </a:p>
        </p:txBody>
      </p:sp>
      <p:sp>
        <p:nvSpPr>
          <p:cNvPr id="17517" name="Right Arrow 17516"/>
          <p:cNvSpPr/>
          <p:nvPr/>
        </p:nvSpPr>
        <p:spPr>
          <a:xfrm>
            <a:off x="9387840" y="4306824"/>
            <a:ext cx="182880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18" name="Rounded Rectangle 17517"/>
          <p:cNvSpPr/>
          <p:nvPr/>
        </p:nvSpPr>
        <p:spPr>
          <a:xfrm>
            <a:off x="9616440" y="4005072"/>
            <a:ext cx="2270760" cy="786384"/>
          </a:xfrm>
          <a:prstGeom prst="roundRect">
            <a:avLst>
              <a:gd name="adj" fmla="val 9302"/>
            </a:avLst>
          </a:prstGeom>
          <a:solidFill>
            <a:srgbClr val="E3F3F6"/>
          </a:solidFill>
          <a:ln w="19050">
            <a:solidFill>
              <a:srgbClr val="0E86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19" name="Rounded Rectangle 17518"/>
          <p:cNvSpPr/>
          <p:nvPr/>
        </p:nvSpPr>
        <p:spPr>
          <a:xfrm>
            <a:off x="9707880" y="4224528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20" name="Picture 17519" descr="brain-circuit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7374" y="4294022"/>
            <a:ext cx="208483" cy="208483"/>
          </a:xfrm>
          <a:prstGeom prst="rect">
            <a:avLst/>
          </a:prstGeom>
        </p:spPr>
      </p:pic>
      <p:sp>
        <p:nvSpPr>
          <p:cNvPr id="17521" name="TextBox 17520"/>
          <p:cNvSpPr txBox="1"/>
          <p:nvPr/>
        </p:nvSpPr>
        <p:spPr>
          <a:xfrm>
            <a:off x="10128504" y="4023359"/>
            <a:ext cx="1703832" cy="74980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U-Net encoder–decoder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bottleneck = satellite embedding; 1.09 M parameters; mean + σ per depth</a:t>
            </a:r>
          </a:p>
        </p:txBody>
      </p:sp>
      <p:sp>
        <p:nvSpPr>
          <p:cNvPr id="17522" name="Rounded Rectangle 17521"/>
          <p:cNvSpPr/>
          <p:nvPr/>
        </p:nvSpPr>
        <p:spPr>
          <a:xfrm>
            <a:off x="4526280" y="4919472"/>
            <a:ext cx="7360920" cy="1298448"/>
          </a:xfrm>
          <a:prstGeom prst="roundRect">
            <a:avLst>
              <a:gd name="adj" fmla="val 7042"/>
            </a:avLst>
          </a:prstGeom>
          <a:solidFill>
            <a:srgbClr val="EDF4FA"/>
          </a:solidFill>
          <a:ln w="12700">
            <a:solidFill>
              <a:srgbClr val="A9C6E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23" name="Rounded Rectangle 17522"/>
          <p:cNvSpPr/>
          <p:nvPr/>
        </p:nvSpPr>
        <p:spPr>
          <a:xfrm>
            <a:off x="4654296" y="501091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24" name="Picture 17523" descr="shield-check-FFFFFF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09159" y="5065775"/>
            <a:ext cx="164592" cy="164592"/>
          </a:xfrm>
          <a:prstGeom prst="rect">
            <a:avLst/>
          </a:prstGeom>
        </p:spPr>
      </p:pic>
      <p:sp>
        <p:nvSpPr>
          <p:cNvPr id="17525" name="TextBox 17524"/>
          <p:cNvSpPr txBox="1"/>
          <p:nvPr/>
        </p:nvSpPr>
        <p:spPr>
          <a:xfrm>
            <a:off x="5001768" y="4992624"/>
            <a:ext cx="6757416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VALIDATION — against the real ocean, not just the training data</a:t>
            </a:r>
          </a:p>
        </p:txBody>
      </p:sp>
      <p:sp>
        <p:nvSpPr>
          <p:cNvPr id="17526" name="Rounded Rectangle 17525"/>
          <p:cNvSpPr/>
          <p:nvPr/>
        </p:nvSpPr>
        <p:spPr>
          <a:xfrm>
            <a:off x="4654296" y="5376672"/>
            <a:ext cx="1693926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527" name="Picture 17526" descr="waves-0E869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45736" y="5449824"/>
            <a:ext cx="219456" cy="219456"/>
          </a:xfrm>
          <a:prstGeom prst="rect">
            <a:avLst/>
          </a:prstGeom>
        </p:spPr>
      </p:pic>
      <p:sp>
        <p:nvSpPr>
          <p:cNvPr id="17528" name="TextBox 17527"/>
          <p:cNvSpPr txBox="1"/>
          <p:nvPr/>
        </p:nvSpPr>
        <p:spPr>
          <a:xfrm>
            <a:off x="5020056" y="5404104"/>
            <a:ext cx="1291590" cy="29260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15,018</a:t>
            </a:r>
          </a:p>
        </p:txBody>
      </p:sp>
      <p:sp>
        <p:nvSpPr>
          <p:cNvPr id="17529" name="TextBox 17528"/>
          <p:cNvSpPr txBox="1"/>
          <p:nvPr/>
        </p:nvSpPr>
        <p:spPr>
          <a:xfrm>
            <a:off x="4745736" y="5715000"/>
            <a:ext cx="1547622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Argo profiles, QC flags 1/2</a:t>
            </a:r>
          </a:p>
        </p:txBody>
      </p:sp>
      <p:sp>
        <p:nvSpPr>
          <p:cNvPr id="17530" name="Rounded Rectangle 17529"/>
          <p:cNvSpPr/>
          <p:nvPr/>
        </p:nvSpPr>
        <p:spPr>
          <a:xfrm>
            <a:off x="6457950" y="5376672"/>
            <a:ext cx="1693926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531" name="Picture 17530" descr="calendar-check-0E869A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49390" y="5449824"/>
            <a:ext cx="219456" cy="219456"/>
          </a:xfrm>
          <a:prstGeom prst="rect">
            <a:avLst/>
          </a:prstGeom>
        </p:spPr>
      </p:pic>
      <p:sp>
        <p:nvSpPr>
          <p:cNvPr id="17532" name="TextBox 17531"/>
          <p:cNvSpPr txBox="1"/>
          <p:nvPr/>
        </p:nvSpPr>
        <p:spPr>
          <a:xfrm>
            <a:off x="6823710" y="5404104"/>
            <a:ext cx="1291590" cy="29260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2,639</a:t>
            </a:r>
          </a:p>
        </p:txBody>
      </p:sp>
      <p:sp>
        <p:nvSpPr>
          <p:cNvPr id="17533" name="TextBox 17532"/>
          <p:cNvSpPr txBox="1"/>
          <p:nvPr/>
        </p:nvSpPr>
        <p:spPr>
          <a:xfrm>
            <a:off x="6549390" y="5715000"/>
            <a:ext cx="1547622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in the held-out 2023 test</a:t>
            </a:r>
          </a:p>
        </p:txBody>
      </p:sp>
      <p:sp>
        <p:nvSpPr>
          <p:cNvPr id="17534" name="Rounded Rectangle 17533"/>
          <p:cNvSpPr/>
          <p:nvPr/>
        </p:nvSpPr>
        <p:spPr>
          <a:xfrm>
            <a:off x="8261604" y="5376672"/>
            <a:ext cx="1693926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535" name="Picture 17534" descr="layers-0E869A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53044" y="5449824"/>
            <a:ext cx="219456" cy="219456"/>
          </a:xfrm>
          <a:prstGeom prst="rect">
            <a:avLst/>
          </a:prstGeom>
        </p:spPr>
      </p:pic>
      <p:sp>
        <p:nvSpPr>
          <p:cNvPr id="17536" name="TextBox 17535"/>
          <p:cNvSpPr txBox="1"/>
          <p:nvPr/>
        </p:nvSpPr>
        <p:spPr>
          <a:xfrm>
            <a:off x="8627364" y="5404104"/>
            <a:ext cx="1291590" cy="29260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per depth</a:t>
            </a:r>
          </a:p>
        </p:txBody>
      </p:sp>
      <p:sp>
        <p:nvSpPr>
          <p:cNvPr id="17537" name="TextBox 17536"/>
          <p:cNvSpPr txBox="1"/>
          <p:nvPr/>
        </p:nvSpPr>
        <p:spPr>
          <a:xfrm>
            <a:off x="8353044" y="5715000"/>
            <a:ext cx="1547622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RMSE · bias · r · skill vs climatology</a:t>
            </a:r>
          </a:p>
        </p:txBody>
      </p:sp>
      <p:sp>
        <p:nvSpPr>
          <p:cNvPr id="17538" name="Rounded Rectangle 17537"/>
          <p:cNvSpPr/>
          <p:nvPr/>
        </p:nvSpPr>
        <p:spPr>
          <a:xfrm>
            <a:off x="10065258" y="5376672"/>
            <a:ext cx="1693926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539" name="Picture 17538" descr="badge-check-0E869A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56698" y="5449824"/>
            <a:ext cx="219456" cy="219456"/>
          </a:xfrm>
          <a:prstGeom prst="rect">
            <a:avLst/>
          </a:prstGeom>
        </p:spPr>
      </p:pic>
      <p:sp>
        <p:nvSpPr>
          <p:cNvPr id="17540" name="TextBox 17539"/>
          <p:cNvSpPr txBox="1"/>
          <p:nvPr/>
        </p:nvSpPr>
        <p:spPr>
          <a:xfrm>
            <a:off x="10431018" y="5404104"/>
            <a:ext cx="1291590" cy="29260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EN4</a:t>
            </a:r>
          </a:p>
        </p:txBody>
      </p:sp>
      <p:sp>
        <p:nvSpPr>
          <p:cNvPr id="17541" name="TextBox 17540"/>
          <p:cNvSpPr txBox="1"/>
          <p:nvPr/>
        </p:nvSpPr>
        <p:spPr>
          <a:xfrm>
            <a:off x="10156698" y="5715000"/>
            <a:ext cx="1547622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independent Met Office cross-check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3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CodeCrafters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88720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1" name="Picture 17410" descr="clipboard-che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1243584"/>
            <a:ext cx="164592" cy="164592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67512" y="1170432"/>
            <a:ext cx="11219688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Analysis of the feasibility of the idea</a:t>
            </a:r>
            <a:r>
              <a:rPr sz="100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   working prototype, validated on the held-out year 2023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0040" y="1554480"/>
            <a:ext cx="2754630" cy="914400"/>
          </a:xfrm>
          <a:prstGeom prst="roundRect">
            <a:avLst>
              <a:gd name="adj" fmla="val 10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4" name="Rounded Rectangle 17413"/>
          <p:cNvSpPr/>
          <p:nvPr/>
        </p:nvSpPr>
        <p:spPr>
          <a:xfrm>
            <a:off x="466344" y="164592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5" name="Picture 17414" descr="waves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1719072"/>
            <a:ext cx="219456" cy="219456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923544" y="1609344"/>
            <a:ext cx="2059686" cy="43891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2,639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66344" y="2066543"/>
            <a:ext cx="2480310" cy="36576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E3EA"/>
                </a:solidFill>
                <a:latin typeface="Arial"/>
                <a:ea typeface="Arial"/>
                <a:cs typeface="Arial"/>
              </a:rPr>
              <a:t>independent Argo profiles from 2023 — a year the model never trained 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57550" y="1554480"/>
            <a:ext cx="2754630" cy="914400"/>
          </a:xfrm>
          <a:prstGeom prst="roundRect">
            <a:avLst>
              <a:gd name="adj" fmla="val 10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9" name="Rounded Rectangle 17418"/>
          <p:cNvSpPr/>
          <p:nvPr/>
        </p:nvSpPr>
        <p:spPr>
          <a:xfrm>
            <a:off x="3403854" y="164592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0" name="Picture 17419" descr="thermometer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7006" y="1719072"/>
            <a:ext cx="219456" cy="219456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3861054" y="1609344"/>
            <a:ext cx="2059686" cy="43891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0.89 °C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403854" y="2066543"/>
            <a:ext cx="2480310" cy="36576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E3EA"/>
                </a:solidFill>
                <a:latin typeface="Arial"/>
                <a:ea typeface="Arial"/>
                <a:cs typeface="Arial"/>
              </a:rPr>
              <a:t>mean temperature error (RMSE, 15 depths) vs 1.10 °C for climatology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195060" y="1554480"/>
            <a:ext cx="2754630" cy="914400"/>
          </a:xfrm>
          <a:prstGeom prst="roundRect">
            <a:avLst>
              <a:gd name="adj" fmla="val 10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4" name="Rounded Rectangle 17423"/>
          <p:cNvSpPr/>
          <p:nvPr/>
        </p:nvSpPr>
        <p:spPr>
          <a:xfrm>
            <a:off x="6341364" y="164592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5" name="Picture 17424" descr="arrow-down-to-line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516" y="1719072"/>
            <a:ext cx="219456" cy="219456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6798564" y="1609344"/>
            <a:ext cx="2059686" cy="43891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1.31 °C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341364" y="2066543"/>
            <a:ext cx="2480310" cy="36576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E3EA"/>
                </a:solidFill>
                <a:latin typeface="Arial"/>
                <a:ea typeface="Arial"/>
                <a:cs typeface="Arial"/>
              </a:rPr>
              <a:t>error at 100 m (thermocline) vs 1.80 °C for climatology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9132570" y="1554480"/>
            <a:ext cx="2754630" cy="914400"/>
          </a:xfrm>
          <a:prstGeom prst="roundRect">
            <a:avLst>
              <a:gd name="adj" fmla="val 10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9" name="Rounded Rectangle 17428"/>
          <p:cNvSpPr/>
          <p:nvPr/>
        </p:nvSpPr>
        <p:spPr>
          <a:xfrm>
            <a:off x="9278874" y="164592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0" name="Picture 17429" descr="crosshair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2026" y="1719072"/>
            <a:ext cx="219456" cy="219456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9736074" y="1609344"/>
            <a:ext cx="2059686" cy="43891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9278874" y="2066543"/>
            <a:ext cx="2480310" cy="36576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FE3EA"/>
                </a:solidFill>
                <a:latin typeface="Arial"/>
                <a:ea typeface="Arial"/>
                <a:cs typeface="Arial"/>
              </a:rPr>
              <a:t>of Argo values within ±1σ after calibration (ideal 68%; raw 41%)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20040" y="2651760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1B8A4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4" name="Picture 17433" descr="circle-check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" y="2706624"/>
            <a:ext cx="164592" cy="164592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667512" y="2633472"/>
            <a:ext cx="3172968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8A4B"/>
                </a:solidFill>
                <a:latin typeface="Arial"/>
                <a:ea typeface="Arial"/>
                <a:cs typeface="Arial"/>
              </a:rPr>
              <a:t>FEASIBLE BECAUSE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20040" y="301752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EAF5EE"/>
          </a:solidFill>
          <a:ln w="12700">
            <a:solidFill>
              <a:srgbClr val="A9D3B7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37" name="Picture 17436" descr="database-1B8A4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768" y="3172968"/>
            <a:ext cx="256032" cy="256032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777240" y="3072384"/>
            <a:ext cx="731520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77240" y="3328415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1B8A4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777240" y="3328415"/>
            <a:ext cx="4572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1563624" y="3017520"/>
            <a:ext cx="2203704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Every input, target and validation source used is open; Copernicus/ERA5 need only free sign-up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20040" y="3648456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EAF5EE"/>
          </a:solidFill>
          <a:ln w="12700">
            <a:solidFill>
              <a:srgbClr val="A9D3B7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43" name="Picture 17442" descr="cpu-1B8A4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768" y="3803904"/>
            <a:ext cx="256032" cy="256032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777240" y="3703320"/>
            <a:ext cx="731520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777240" y="395935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1B8A4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777240" y="3959352"/>
            <a:ext cx="4572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1563624" y="3648456"/>
            <a:ext cx="2203704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Built and running end to end: ingestion → models → API → dashboard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320040" y="4279392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EAF5EE"/>
          </a:solidFill>
          <a:ln w="12700">
            <a:solidFill>
              <a:srgbClr val="A9D3B7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49" name="Picture 17448" descr="gauge-1B8A4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768" y="4434840"/>
            <a:ext cx="256032" cy="256032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777240" y="4334255"/>
            <a:ext cx="731520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777240" y="4590288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1B8A4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777240" y="4590288"/>
            <a:ext cx="4572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1563624" y="4279392"/>
            <a:ext cx="2203704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U-Net (1.09 M params) trained on a laptop CPU — no GPU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320040" y="4910327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EAF5EE"/>
          </a:solidFill>
          <a:ln w="12700">
            <a:solidFill>
              <a:srgbClr val="A9D3B7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55" name="Picture 17454" descr="indian-rupee-1B8A4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768" y="5065775"/>
            <a:ext cx="256032" cy="256032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777240" y="4965191"/>
            <a:ext cx="731520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777240" y="5221223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1B8A4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777240" y="5221223"/>
            <a:ext cx="4572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₹0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1563624" y="4910327"/>
            <a:ext cx="2203704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No paid data or services used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320040" y="5596127"/>
            <a:ext cx="932688" cy="182880"/>
          </a:xfrm>
          <a:prstGeom prst="roundRect">
            <a:avLst>
              <a:gd name="adj" fmla="val 50000"/>
            </a:avLst>
          </a:prstGeom>
          <a:solidFill>
            <a:srgbClr val="1B8A4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1" name="TextBox 17460"/>
          <p:cNvSpPr txBox="1"/>
          <p:nvPr/>
        </p:nvSpPr>
        <p:spPr>
          <a:xfrm>
            <a:off x="320040" y="5596127"/>
            <a:ext cx="93268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1325880" y="5559551"/>
            <a:ext cx="2514600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pipeline · models · validation · API · dashboard · Docker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320040" y="5980175"/>
            <a:ext cx="932688" cy="182880"/>
          </a:xfrm>
          <a:prstGeom prst="roundRect">
            <a:avLst>
              <a:gd name="adj" fmla="val 50000"/>
            </a:avLst>
          </a:prstGeom>
          <a:solidFill>
            <a:srgbClr val="B36B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4" name="TextBox 17463"/>
          <p:cNvSpPr txBox="1"/>
          <p:nvPr/>
        </p:nvSpPr>
        <p:spPr>
          <a:xfrm>
            <a:off x="320040" y="5980175"/>
            <a:ext cx="93268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1325880" y="5943599"/>
            <a:ext cx="2514600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hosted deployment · re-run on Copernicus/GLORYS with credentials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4114800" y="2651760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B36B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7" name="Picture 17466" descr="triangle-alert-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69663" y="2706624"/>
            <a:ext cx="164592" cy="164592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4462272" y="2633472"/>
            <a:ext cx="2944368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36B00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7808975" y="2651760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70" name="Picture 17469" descr="shield-check-FFFF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63840" y="2706624"/>
            <a:ext cx="164592" cy="164592"/>
          </a:xfrm>
          <a:prstGeom prst="rect">
            <a:avLst/>
          </a:prstGeom>
        </p:spPr>
      </p:pic>
      <p:sp>
        <p:nvSpPr>
          <p:cNvPr id="17471" name="TextBox 17470"/>
          <p:cNvSpPr txBox="1"/>
          <p:nvPr/>
        </p:nvSpPr>
        <p:spPr>
          <a:xfrm>
            <a:off x="8156448" y="2633472"/>
            <a:ext cx="373075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Strategies for overcoming these challenges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4114800" y="30175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DF3E6"/>
          </a:solidFill>
          <a:ln w="12700">
            <a:solidFill>
              <a:srgbClr val="E9C08A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73" name="Picture 17472" descr="triangle-alert-B36B0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06240" y="3191256"/>
            <a:ext cx="219456" cy="219456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4498848" y="3017520"/>
            <a:ext cx="2852928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Training target (a reanalysis) assimilates Argo → validation not fully independent</a:t>
            </a:r>
          </a:p>
        </p:txBody>
      </p:sp>
      <p:sp>
        <p:nvSpPr>
          <p:cNvPr id="17475" name="Right Arrow 17474"/>
          <p:cNvSpPr/>
          <p:nvPr/>
        </p:nvSpPr>
        <p:spPr>
          <a:xfrm>
            <a:off x="7479792" y="3209544"/>
            <a:ext cx="256032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76" name="Rounded Rectangle 17475"/>
          <p:cNvSpPr/>
          <p:nvPr/>
        </p:nvSpPr>
        <p:spPr>
          <a:xfrm>
            <a:off x="7808975" y="3017520"/>
            <a:ext cx="4078224" cy="566928"/>
          </a:xfrm>
          <a:prstGeom prst="roundRect">
            <a:avLst>
              <a:gd name="adj" fmla="val 12903"/>
            </a:avLst>
          </a:prstGeom>
          <a:solidFill>
            <a:srgbClr val="E3F3F6"/>
          </a:solidFill>
          <a:ln w="12700">
            <a:solidFill>
              <a:srgbClr val="9FD0D8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77" name="Picture 17476" descr="shield-check-0E869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0415" y="3191256"/>
            <a:ext cx="219456" cy="219456"/>
          </a:xfrm>
          <a:prstGeom prst="rect">
            <a:avLst/>
          </a:prstGeom>
        </p:spPr>
      </p:pic>
      <p:sp>
        <p:nvSpPr>
          <p:cNvPr id="17478" name="TextBox 17477"/>
          <p:cNvSpPr txBox="1"/>
          <p:nvPr/>
        </p:nvSpPr>
        <p:spPr>
          <a:xfrm>
            <a:off x="8193023" y="3017520"/>
            <a:ext cx="3639312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Hold out a whole year; show the target product's own error as the ceiling (0.79 °C); cross-check against EN4</a:t>
            </a:r>
          </a:p>
        </p:txBody>
      </p:sp>
      <p:sp>
        <p:nvSpPr>
          <p:cNvPr id="17479" name="Rounded Rectangle 17478"/>
          <p:cNvSpPr/>
          <p:nvPr/>
        </p:nvSpPr>
        <p:spPr>
          <a:xfrm>
            <a:off x="4114800" y="36576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DF3E6"/>
          </a:solidFill>
          <a:ln w="12700">
            <a:solidFill>
              <a:srgbClr val="E9C08A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80" name="Picture 17479" descr="triangle-alert-B36B0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06240" y="3831336"/>
            <a:ext cx="219456" cy="219456"/>
          </a:xfrm>
          <a:prstGeom prst="rect">
            <a:avLst/>
          </a:prstGeom>
        </p:spPr>
      </p:pic>
      <p:sp>
        <p:nvSpPr>
          <p:cNvPr id="17481" name="TextBox 17480"/>
          <p:cNvSpPr txBox="1"/>
          <p:nvPr/>
        </p:nvSpPr>
        <p:spPr>
          <a:xfrm>
            <a:off x="4498848" y="3657600"/>
            <a:ext cx="2852928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Raw model uncertainty was over-confident (41% of values within ±1σ)</a:t>
            </a:r>
          </a:p>
        </p:txBody>
      </p:sp>
      <p:sp>
        <p:nvSpPr>
          <p:cNvPr id="17482" name="Right Arrow 17481"/>
          <p:cNvSpPr/>
          <p:nvPr/>
        </p:nvSpPr>
        <p:spPr>
          <a:xfrm>
            <a:off x="7479792" y="3849624"/>
            <a:ext cx="256032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83" name="Rounded Rectangle 17482"/>
          <p:cNvSpPr/>
          <p:nvPr/>
        </p:nvSpPr>
        <p:spPr>
          <a:xfrm>
            <a:off x="7808975" y="3657600"/>
            <a:ext cx="4078224" cy="566928"/>
          </a:xfrm>
          <a:prstGeom prst="roundRect">
            <a:avLst>
              <a:gd name="adj" fmla="val 12903"/>
            </a:avLst>
          </a:prstGeom>
          <a:solidFill>
            <a:srgbClr val="E3F3F6"/>
          </a:solidFill>
          <a:ln w="12700">
            <a:solidFill>
              <a:srgbClr val="9FD0D8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84" name="Picture 17483" descr="shield-check-0E869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0415" y="3831336"/>
            <a:ext cx="219456" cy="219456"/>
          </a:xfrm>
          <a:prstGeom prst="rect">
            <a:avLst/>
          </a:prstGeom>
        </p:spPr>
      </p:pic>
      <p:sp>
        <p:nvSpPr>
          <p:cNvPr id="17485" name="TextBox 17484"/>
          <p:cNvSpPr txBox="1"/>
          <p:nvPr/>
        </p:nvSpPr>
        <p:spPr>
          <a:xfrm>
            <a:off x="8193023" y="3657600"/>
            <a:ext cx="3639312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Per-depth calibration fitted on 2022 floats, verified on 2023 → 70% within ±1σ, 94% within ±2σ</a:t>
            </a:r>
          </a:p>
        </p:txBody>
      </p:sp>
      <p:sp>
        <p:nvSpPr>
          <p:cNvPr id="17486" name="Rounded Rectangle 17485"/>
          <p:cNvSpPr/>
          <p:nvPr/>
        </p:nvSpPr>
        <p:spPr>
          <a:xfrm>
            <a:off x="4114800" y="429768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DF3E6"/>
          </a:solidFill>
          <a:ln w="12700">
            <a:solidFill>
              <a:srgbClr val="E9C08A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87" name="Picture 17486" descr="triangle-alert-B36B0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06240" y="4471416"/>
            <a:ext cx="219456" cy="219456"/>
          </a:xfrm>
          <a:prstGeom prst="rect">
            <a:avLst/>
          </a:prstGeom>
        </p:spPr>
      </p:pic>
      <p:sp>
        <p:nvSpPr>
          <p:cNvPr id="17488" name="TextBox 17487"/>
          <p:cNvSpPr txBox="1"/>
          <p:nvPr/>
        </p:nvSpPr>
        <p:spPr>
          <a:xfrm>
            <a:off x="4498848" y="4297680"/>
            <a:ext cx="2852928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Satellite salinity is gappy; removing it showed no measurable change in skill</a:t>
            </a:r>
          </a:p>
        </p:txBody>
      </p:sp>
      <p:sp>
        <p:nvSpPr>
          <p:cNvPr id="17489" name="Right Arrow 17488"/>
          <p:cNvSpPr/>
          <p:nvPr/>
        </p:nvSpPr>
        <p:spPr>
          <a:xfrm>
            <a:off x="7479792" y="4489704"/>
            <a:ext cx="256032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90" name="Rounded Rectangle 17489"/>
          <p:cNvSpPr/>
          <p:nvPr/>
        </p:nvSpPr>
        <p:spPr>
          <a:xfrm>
            <a:off x="7808975" y="4297680"/>
            <a:ext cx="4078224" cy="566928"/>
          </a:xfrm>
          <a:prstGeom prst="roundRect">
            <a:avLst>
              <a:gd name="adj" fmla="val 12903"/>
            </a:avLst>
          </a:prstGeom>
          <a:solidFill>
            <a:srgbClr val="E3F3F6"/>
          </a:solidFill>
          <a:ln w="12700">
            <a:solidFill>
              <a:srgbClr val="9FD0D8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91" name="Picture 17490" descr="shield-check-0E869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0415" y="4471416"/>
            <a:ext cx="219456" cy="219456"/>
          </a:xfrm>
          <a:prstGeom prst="rect">
            <a:avLst/>
          </a:prstGeom>
        </p:spPr>
      </p:pic>
      <p:sp>
        <p:nvSpPr>
          <p:cNvPr id="17492" name="TextBox 17491"/>
          <p:cNvSpPr txBox="1"/>
          <p:nvPr/>
        </p:nvSpPr>
        <p:spPr>
          <a:xfrm>
            <a:off x="8193023" y="4297680"/>
            <a:ext cx="3639312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Merged SMAP + bias-corrected SMOS (absent days 209 → 1); re-test with Copernicus SSS</a:t>
            </a:r>
          </a:p>
        </p:txBody>
      </p:sp>
      <p:sp>
        <p:nvSpPr>
          <p:cNvPr id="17493" name="Rounded Rectangle 17492"/>
          <p:cNvSpPr/>
          <p:nvPr/>
        </p:nvSpPr>
        <p:spPr>
          <a:xfrm>
            <a:off x="4114800" y="49377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DF3E6"/>
          </a:solidFill>
          <a:ln w="12700">
            <a:solidFill>
              <a:srgbClr val="E9C08A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94" name="Picture 17493" descr="triangle-alert-B36B0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06240" y="5111496"/>
            <a:ext cx="219456" cy="219456"/>
          </a:xfrm>
          <a:prstGeom prst="rect">
            <a:avLst/>
          </a:prstGeom>
        </p:spPr>
      </p:pic>
      <p:sp>
        <p:nvSpPr>
          <p:cNvPr id="17495" name="TextBox 17494"/>
          <p:cNvSpPr txBox="1"/>
          <p:nvPr/>
        </p:nvSpPr>
        <p:spPr>
          <a:xfrm>
            <a:off x="4498848" y="4937760"/>
            <a:ext cx="2852928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GLORYS / Copernicus data need an account</a:t>
            </a:r>
          </a:p>
        </p:txBody>
      </p:sp>
      <p:sp>
        <p:nvSpPr>
          <p:cNvPr id="17496" name="Right Arrow 17495"/>
          <p:cNvSpPr/>
          <p:nvPr/>
        </p:nvSpPr>
        <p:spPr>
          <a:xfrm>
            <a:off x="7479792" y="5129784"/>
            <a:ext cx="256032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97" name="Rounded Rectangle 17496"/>
          <p:cNvSpPr/>
          <p:nvPr/>
        </p:nvSpPr>
        <p:spPr>
          <a:xfrm>
            <a:off x="7808975" y="4937760"/>
            <a:ext cx="4078224" cy="566928"/>
          </a:xfrm>
          <a:prstGeom prst="roundRect">
            <a:avLst>
              <a:gd name="adj" fmla="val 12903"/>
            </a:avLst>
          </a:prstGeom>
          <a:solidFill>
            <a:srgbClr val="E3F3F6"/>
          </a:solidFill>
          <a:ln w="12700">
            <a:solidFill>
              <a:srgbClr val="9FD0D8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98" name="Picture 17497" descr="shield-check-0E869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0415" y="5111496"/>
            <a:ext cx="219456" cy="219456"/>
          </a:xfrm>
          <a:prstGeom prst="rect">
            <a:avLst/>
          </a:prstGeom>
        </p:spPr>
      </p:pic>
      <p:sp>
        <p:nvSpPr>
          <p:cNvPr id="17499" name="TextBox 17498"/>
          <p:cNvSpPr txBox="1"/>
          <p:nvPr/>
        </p:nvSpPr>
        <p:spPr>
          <a:xfrm>
            <a:off x="8193023" y="4937760"/>
            <a:ext cx="3639312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Credentialed adapters already built — switching source is a config change, no code change</a:t>
            </a:r>
          </a:p>
        </p:txBody>
      </p:sp>
      <p:sp>
        <p:nvSpPr>
          <p:cNvPr id="17500" name="Rounded Rectangle 17499"/>
          <p:cNvSpPr/>
          <p:nvPr/>
        </p:nvSpPr>
        <p:spPr>
          <a:xfrm>
            <a:off x="4114800" y="557784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DF3E6"/>
          </a:solidFill>
          <a:ln w="12700">
            <a:solidFill>
              <a:srgbClr val="E9C08A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501" name="Picture 17500" descr="triangle-alert-B36B0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06240" y="5751576"/>
            <a:ext cx="219456" cy="219456"/>
          </a:xfrm>
          <a:prstGeom prst="rect">
            <a:avLst/>
          </a:prstGeom>
        </p:spPr>
      </p:pic>
      <p:sp>
        <p:nvSpPr>
          <p:cNvPr id="17502" name="TextBox 17501"/>
          <p:cNvSpPr txBox="1"/>
          <p:nvPr/>
        </p:nvSpPr>
        <p:spPr>
          <a:xfrm>
            <a:off x="4498848" y="5577840"/>
            <a:ext cx="2852928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Thermocline (20–150 m) is the hardest layer to reconstruct</a:t>
            </a:r>
          </a:p>
        </p:txBody>
      </p:sp>
      <p:sp>
        <p:nvSpPr>
          <p:cNvPr id="17503" name="Right Arrow 17502"/>
          <p:cNvSpPr/>
          <p:nvPr/>
        </p:nvSpPr>
        <p:spPr>
          <a:xfrm>
            <a:off x="7479792" y="5769864"/>
            <a:ext cx="256032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04" name="Rounded Rectangle 17503"/>
          <p:cNvSpPr/>
          <p:nvPr/>
        </p:nvSpPr>
        <p:spPr>
          <a:xfrm>
            <a:off x="7808975" y="5577840"/>
            <a:ext cx="4078224" cy="566928"/>
          </a:xfrm>
          <a:prstGeom prst="roundRect">
            <a:avLst>
              <a:gd name="adj" fmla="val 12903"/>
            </a:avLst>
          </a:prstGeom>
          <a:solidFill>
            <a:srgbClr val="E3F3F6"/>
          </a:solidFill>
          <a:ln w="12700">
            <a:solidFill>
              <a:srgbClr val="9FD0D8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505" name="Picture 17504" descr="shield-check-0E869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0415" y="5751576"/>
            <a:ext cx="219456" cy="219456"/>
          </a:xfrm>
          <a:prstGeom prst="rect">
            <a:avLst/>
          </a:prstGeom>
        </p:spPr>
      </p:pic>
      <p:sp>
        <p:nvSpPr>
          <p:cNvPr id="17506" name="TextBox 17505"/>
          <p:cNvSpPr txBox="1"/>
          <p:nvPr/>
        </p:nvSpPr>
        <p:spPr>
          <a:xfrm>
            <a:off x="8193023" y="5577840"/>
            <a:ext cx="3639312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Report error per depth, never one number; the uncertainty band widens where skill drops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3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CodeCrafters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88720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1" name="Picture 17410" descr="users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" y="1243584"/>
            <a:ext cx="164592" cy="164592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67512" y="1170432"/>
            <a:ext cx="5824728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0040" y="1554480"/>
            <a:ext cx="1440180" cy="950976"/>
          </a:xfrm>
          <a:prstGeom prst="roundRect">
            <a:avLst>
              <a:gd name="adj" fmla="val 9615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4" name="Picture 17413" descr="waves-7FD3E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114" y="1627632"/>
            <a:ext cx="256032" cy="25603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320040" y="1901952"/>
            <a:ext cx="144018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Ocean analysts &amp;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forecasters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BFE3EA"/>
                </a:solidFill>
                <a:latin typeface="Arial"/>
                <a:ea typeface="Arial"/>
                <a:cs typeface="Arial"/>
              </a:rPr>
              <a:t>INCOIS-style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897379" y="1554480"/>
            <a:ext cx="1440180" cy="950976"/>
          </a:xfrm>
          <a:prstGeom prst="roundRect">
            <a:avLst>
              <a:gd name="adj" fmla="val 9615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7" name="Picture 17416" descr="cloud-lightning-7FD3E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9453" y="1627632"/>
            <a:ext cx="256032" cy="256032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1897379" y="1901952"/>
            <a:ext cx="144018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Cyclone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forecasters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BFE3EA"/>
                </a:solidFill>
                <a:latin typeface="Arial"/>
                <a:ea typeface="Arial"/>
                <a:cs typeface="Arial"/>
              </a:rPr>
              <a:t>heat available to storms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474720" y="1554480"/>
            <a:ext cx="1440180" cy="950976"/>
          </a:xfrm>
          <a:prstGeom prst="roundRect">
            <a:avLst>
              <a:gd name="adj" fmla="val 9615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0" name="Picture 17419" descr="fish-7FD3E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6794" y="1627632"/>
            <a:ext cx="256032" cy="256032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3474720" y="1901952"/>
            <a:ext cx="144018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Fisheries-advisory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analysts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BFE3EA"/>
                </a:solidFill>
                <a:latin typeface="Arial"/>
                <a:ea typeface="Arial"/>
                <a:cs typeface="Arial"/>
              </a:rPr>
              <a:t>mixed layer &amp; thermocline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052059" y="1554480"/>
            <a:ext cx="1440180" cy="950976"/>
          </a:xfrm>
          <a:prstGeom prst="roundRect">
            <a:avLst>
              <a:gd name="adj" fmla="val 9615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3" name="Picture 17422" descr="microscope-7FD3E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4133" y="1627632"/>
            <a:ext cx="256032" cy="256032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5052059" y="1901952"/>
            <a:ext cx="144018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Ocean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researchers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BFE3EA"/>
                </a:solidFill>
                <a:latin typeface="Arial"/>
                <a:ea typeface="Arial"/>
                <a:cs typeface="Arial"/>
              </a:rPr>
              <a:t>daily 3-D record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20040" y="2560320"/>
            <a:ext cx="6172200" cy="237744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1">
                <a:solidFill>
                  <a:srgbClr val="0E869A"/>
                </a:solidFill>
                <a:latin typeface="Arial"/>
                <a:ea typeface="Arial"/>
                <a:cs typeface="Arial"/>
              </a:rPr>
              <a:t>Decision support — not a replacement for operational ocean models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20040" y="2871216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7" name="Picture 17426" descr="heart-handshake-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904" y="2926080"/>
            <a:ext cx="164592" cy="164592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667512" y="2852928"/>
            <a:ext cx="5824728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Benefits of the solution</a:t>
            </a:r>
            <a:r>
              <a:rPr sz="100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   social · economic · environmental · operational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20040" y="3236976"/>
            <a:ext cx="3017520" cy="1060704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5875">
            <a:solidFill>
              <a:srgbClr val="A9C6E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30" name="Rounded Rectangle 17429"/>
          <p:cNvSpPr/>
          <p:nvPr/>
        </p:nvSpPr>
        <p:spPr>
          <a:xfrm>
            <a:off x="448056" y="334670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E3F3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1" name="Picture 17430" descr="users-0E869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550" y="3416198"/>
            <a:ext cx="208483" cy="208483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886968" y="3346704"/>
            <a:ext cx="2340863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SOCIAL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48056" y="3749039"/>
            <a:ext cx="2761487" cy="512063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Basin-wide cyclone heat potential (TCHP) and mixed-layer maps for every day and every 0.25° cell of the domain.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474720" y="3236976"/>
            <a:ext cx="3017520" cy="1060704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5875">
            <a:solidFill>
              <a:srgbClr val="A9C6E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35" name="Rounded Rectangle 17434"/>
          <p:cNvSpPr/>
          <p:nvPr/>
        </p:nvSpPr>
        <p:spPr>
          <a:xfrm>
            <a:off x="3602736" y="334670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E3F3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6" name="Picture 17435" descr="indian-rupee-0E869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72230" y="3416198"/>
            <a:ext cx="208483" cy="208483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4041648" y="3346704"/>
            <a:ext cx="2340863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ECONOMIC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602736" y="3749039"/>
            <a:ext cx="2761487" cy="512063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Built only on free satellite data; the model trains on a CPU; products are precomputed, so viewing needs no heavy compute.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20040" y="4407408"/>
            <a:ext cx="3017520" cy="1060704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5875">
            <a:solidFill>
              <a:srgbClr val="A9C6E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40" name="Rounded Rectangle 17439"/>
          <p:cNvSpPr/>
          <p:nvPr/>
        </p:nvSpPr>
        <p:spPr>
          <a:xfrm>
            <a:off x="448056" y="4517136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E3F3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1" name="Picture 17440" descr="leaf-0E869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7550" y="4586630"/>
            <a:ext cx="208483" cy="208483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886968" y="4517136"/>
            <a:ext cx="2340863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ENVIRONMENTAL / CLIMATE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448056" y="4919472"/>
            <a:ext cx="2761487" cy="512063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A continuous daily record of upper-ocean heat and stratification for the North Indian Ocean (2019–2023).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3474720" y="4407408"/>
            <a:ext cx="3017520" cy="1060704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5875">
            <a:solidFill>
              <a:srgbClr val="A9C6E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45" name="Rounded Rectangle 17444"/>
          <p:cNvSpPr/>
          <p:nvPr/>
        </p:nvSpPr>
        <p:spPr>
          <a:xfrm>
            <a:off x="3602736" y="4517136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E3F3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6" name="Picture 17445" descr="activity-0E869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72230" y="4586630"/>
            <a:ext cx="208483" cy="208483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4041648" y="4517136"/>
            <a:ext cx="2340863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OPERATIONAL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3602736" y="4919472"/>
            <a:ext cx="2761487" cy="512063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Each profile ships with a calibrated error bar and the nearest independent Argo float — trust is visible, not assumed.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320040" y="5577840"/>
            <a:ext cx="6172200" cy="640080"/>
          </a:xfrm>
          <a:prstGeom prst="roundRect">
            <a:avLst>
              <a:gd name="adj" fmla="val 14285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0" name="Rounded Rectangle 17449"/>
          <p:cNvSpPr/>
          <p:nvPr/>
        </p:nvSpPr>
        <p:spPr>
          <a:xfrm>
            <a:off x="466344" y="571500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1" name="Picture 17450" descr="target-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496" y="5788152"/>
            <a:ext cx="219456" cy="219456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941832" y="5577840"/>
            <a:ext cx="5440680" cy="6400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FD3E0"/>
                </a:solidFill>
                <a:latin typeface="Arial"/>
                <a:ea typeface="Arial"/>
                <a:cs typeface="Arial"/>
              </a:rPr>
              <a:t>KEY OUTCOME</a:t>
            </a:r>
          </a:p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full-basin subsurface view · daily · 0–1000 m · with measured confidence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6766560" y="1188720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4" name="Picture 17453" descr="monitor-FFFFF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21424" y="1243584"/>
            <a:ext cx="164592" cy="164592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7114032" y="1170432"/>
            <a:ext cx="4773168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Working prototype</a:t>
            </a:r>
            <a:r>
              <a:rPr sz="100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   real event, held-out year</a:t>
            </a:r>
          </a:p>
        </p:txBody>
      </p:sp>
      <p:pic>
        <p:nvPicPr>
          <p:cNvPr id="17456" name="Picture 17455" descr="fuel_crop_21579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66560" y="1554480"/>
            <a:ext cx="2505456" cy="2557653"/>
          </a:xfrm>
          <a:prstGeom prst="rect">
            <a:avLst/>
          </a:prstGeom>
          <a:ln w="9525">
            <a:solidFill>
              <a:srgbClr val="C9D6E2"/>
            </a:solidFill>
          </a:ln>
        </p:spPr>
      </p:pic>
      <p:pic>
        <p:nvPicPr>
          <p:cNvPr id="17457" name="Picture 17456" descr="fuel_crop_60702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81744" y="1554480"/>
            <a:ext cx="2505456" cy="2664493"/>
          </a:xfrm>
          <a:prstGeom prst="rect">
            <a:avLst/>
          </a:prstGeom>
          <a:ln w="9525">
            <a:solidFill>
              <a:srgbClr val="C9D6E2"/>
            </a:solidFill>
          </a:ln>
        </p:spPr>
      </p:pic>
      <p:sp>
        <p:nvSpPr>
          <p:cNvPr id="17458" name="Rounded Rectangle 17457"/>
          <p:cNvSpPr/>
          <p:nvPr/>
        </p:nvSpPr>
        <p:spPr>
          <a:xfrm>
            <a:off x="6766560" y="4328701"/>
            <a:ext cx="5120640" cy="1121122"/>
          </a:xfrm>
          <a:prstGeom prst="roundRect">
            <a:avLst>
              <a:gd name="adj" fmla="val 8156"/>
            </a:avLst>
          </a:prstGeom>
          <a:solidFill>
            <a:srgbClr val="F2F6F9"/>
          </a:solidFill>
          <a:ln w="12700">
            <a:solidFill>
              <a:srgbClr val="C9D6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59" name="TextBox 17458"/>
          <p:cNvSpPr txBox="1"/>
          <p:nvPr/>
        </p:nvSpPr>
        <p:spPr>
          <a:xfrm>
            <a:off x="6894576" y="4328701"/>
            <a:ext cx="4864607" cy="112112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Cyclone Fuel Gauge — </a:t>
            </a:r>
            <a:r>
              <a:rPr sz="95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reconstructed TCHP along Cyclone Mocha's real IBTrACS track (May 2023, ocean state 2 days before passage): 52.7–102 kJ/cm² over the ocean, above the 50 kJ/cm² level commonly linked to intensification. Prototype output, not an operational forecast.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6766560" y="5577840"/>
            <a:ext cx="1633727" cy="640080"/>
          </a:xfrm>
          <a:prstGeom prst="roundRect">
            <a:avLst>
              <a:gd name="adj" fmla="val 14285"/>
            </a:avLst>
          </a:prstGeom>
          <a:solidFill>
            <a:srgbClr val="E3F3F6"/>
          </a:solidFill>
          <a:ln w="15875">
            <a:solidFill>
              <a:srgbClr val="0E869A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61" name="Picture 17460" descr="mouse-pointer-click-0E869A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57568" y="5687568"/>
            <a:ext cx="201168" cy="201168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7213600" y="5669279"/>
            <a:ext cx="11785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Click any cell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6766560" y="5925312"/>
            <a:ext cx="1633727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full 0–1000 m profile + σ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8510016" y="5577840"/>
            <a:ext cx="1633727" cy="640080"/>
          </a:xfrm>
          <a:prstGeom prst="roundRect">
            <a:avLst>
              <a:gd name="adj" fmla="val 14285"/>
            </a:avLst>
          </a:prstGeom>
          <a:solidFill>
            <a:srgbClr val="E3F3F6"/>
          </a:solidFill>
          <a:ln w="15875">
            <a:solidFill>
              <a:srgbClr val="0E869A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65" name="Picture 17464" descr="map-pin-0E869A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72144" y="5687568"/>
            <a:ext cx="201168" cy="201168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9028176" y="5669279"/>
            <a:ext cx="1036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Argo overlay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8510016" y="5925312"/>
            <a:ext cx="1633727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nearest independent float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10253472" y="5577840"/>
            <a:ext cx="1633727" cy="640080"/>
          </a:xfrm>
          <a:prstGeom prst="roundRect">
            <a:avLst>
              <a:gd name="adj" fmla="val 14285"/>
            </a:avLst>
          </a:prstGeom>
          <a:solidFill>
            <a:srgbClr val="E3F3F6"/>
          </a:solidFill>
          <a:ln w="15875">
            <a:solidFill>
              <a:srgbClr val="0E869A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69" name="Picture 17468" descr="file-down-0E869A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28960" y="5687568"/>
            <a:ext cx="201168" cy="201168"/>
          </a:xfrm>
          <a:prstGeom prst="rect">
            <a:avLst/>
          </a:prstGeom>
        </p:spPr>
      </p:pic>
      <p:sp>
        <p:nvSpPr>
          <p:cNvPr id="17470" name="TextBox 17469"/>
          <p:cNvSpPr txBox="1"/>
          <p:nvPr/>
        </p:nvSpPr>
        <p:spPr>
          <a:xfrm>
            <a:off x="10984991" y="5669279"/>
            <a:ext cx="609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10253472" y="5925312"/>
            <a:ext cx="1633727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PDF / CSV report per point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3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CodeCrafters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88720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0E86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1" name="Picture 17410" descr="book-open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1243584"/>
            <a:ext cx="164592" cy="164592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67512" y="1170432"/>
            <a:ext cx="11219688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Details / Links of the reference and research work</a:t>
            </a:r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320040" y="1572768"/>
          <a:ext cx="115671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4206240"/>
                <a:gridCol w="2331720"/>
                <a:gridCol w="2194560"/>
                <a:gridCol w="2423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B2F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54864" marR="54864" marT="27432" marB="27432" anchor="ctr">
                    <a:solidFill>
                      <a:srgbClr val="0B2F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Organisation</a:t>
                      </a:r>
                    </a:p>
                  </a:txBody>
                  <a:tcPr marL="54864" marR="54864" marT="27432" marB="27432" anchor="ctr">
                    <a:solidFill>
                      <a:srgbClr val="0B2F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supports</a:t>
                      </a:r>
                    </a:p>
                  </a:txBody>
                  <a:tcPr marL="54864" marR="54864" marT="27432" marB="27432" anchor="ctr">
                    <a:solidFill>
                      <a:srgbClr val="0B2F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Link</a:t>
                      </a:r>
                    </a:p>
                  </a:txBody>
                  <a:tcPr marL="54864" marR="54864" marT="27432" marB="27432" anchor="ctr">
                    <a:solidFill>
                      <a:srgbClr val="0B2F4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SIH26066 OceanEmbed problem statement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SIH · MoES / INCOIS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Scope, domain, 15 standard depths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hlinkClick r:id="rId5"/>
                        </a:rPr>
                        <a:t>sih.gov.in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INCOIS Tropical Cyclone Heat Potential service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INCOIS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Operational relevance of TCHP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hlinkClick r:id="rId6"/>
                        </a:rPr>
                        <a:t>incois.gov.in/site/services/tchp.jsp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GLORYS12V1 global ocean reanalysis (PS-named target)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Copernicus Marine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Training-target specification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hlinkClick r:id="rId7"/>
                        </a:rPr>
                        <a:t>doi.org/10.48670/moi-00021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Argo float profiles via argopy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Argo programme · Euro-Argo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Independent validation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hlinkClick r:id="rId8"/>
                        </a:rPr>
                        <a:t>argopy.readthedocs.io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NOAA OISST v2.1 · NCEI Blended Seawinds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NOAA NCEI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Satellite inputs used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hlinkClick r:id="rId9"/>
                        </a:rPr>
                        <a:t>ncei.noaa.gov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EN4 quality-controlled ocean analysis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UK Met Office Hadley Centre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Independent cross-check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hlinkClick r:id="rId10"/>
                        </a:rPr>
                        <a:t>metoffice.gov.uk/hadobs/en4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Bay of Bengal barrier layer (Vinayachandran et al., 2002)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JGR Oceans · AGU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Why salinity is an input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hlinkClick r:id="rId11"/>
                        </a:rPr>
                        <a:t>doi.org/10.1029/2001JC000831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Subsurface temperature reconstruction, ConvLSTM vs LightGBM (2022)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MDPI Remote Sensing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Model choice; thermocline is hardest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hlinkClick r:id="rId12"/>
                        </a:rPr>
                        <a:t>doi.org/10.3390/rs14133198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IBTrACS v04r01 best-track archive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NOAA NCEI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Real cyclone tracks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hlinkClick r:id="rId13"/>
                        </a:rPr>
                        <a:t>ncei.noaa.gov/products/</a:t>
                      </a:r>
                      <a:br/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hlinkClick r:id="rId13"/>
                        </a:rPr>
                        <a:t>international-best-track-archive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4" name="Rounded Rectangle 17413">
            <a:hlinkClick r:id="rId14"/>
          </p:cNvPr>
          <p:cNvSpPr/>
          <p:nvPr/>
        </p:nvSpPr>
        <p:spPr>
          <a:xfrm>
            <a:off x="320040" y="5614416"/>
            <a:ext cx="11567160" cy="585216"/>
          </a:xfrm>
          <a:prstGeom prst="roundRect">
            <a:avLst>
              <a:gd name="adj" fmla="val 15625"/>
            </a:avLst>
          </a:prstGeom>
          <a:solidFill>
            <a:srgbClr val="E3F3F6"/>
          </a:solidFill>
          <a:ln w="12700">
            <a:solidFill>
              <a:srgbClr val="9FD0D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15" name="Rounded Rectangle 17414"/>
          <p:cNvSpPr/>
          <p:nvPr/>
        </p:nvSpPr>
        <p:spPr>
          <a:xfrm>
            <a:off x="448056" y="5733288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0B2F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6" name="Picture 17415" descr="code-xml-FFFF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7550" y="5802782"/>
            <a:ext cx="208483" cy="208483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905256" y="5614416"/>
            <a:ext cx="10835640" cy="58521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Prototype source code &amp; full research artifact:  </a:t>
            </a:r>
            <a:r>
              <a:rPr sz="120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github.com/saad-46/oceanembed</a:t>
            </a:r>
            <a:r>
              <a:rPr sz="100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   ·   all reported metrics are generated by the pipeline (docs/RESULTS.md)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