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29184" y="1005840"/>
            <a:ext cx="6492240" cy="1097280"/>
          </a:xfrm>
        </p:spPr>
        <p:txBody>
          <a:bodyPr anchor="t"/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Seeing 1000 m beneath the ocean surface — from satellites alone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286000"/>
            <a:ext cx="5943600" cy="4434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7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ID – </a:t>
            </a:r>
            <a:r>
              <a:rPr sz="18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SIH26066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7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Title – </a:t>
            </a:r>
            <a:r>
              <a:rPr sz="1500" b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OceanEmbed – Satellite Embedding-Based Deep Learning Framework for Reconstruction of Subsurface Ocean Temperature from Surface Satellite Observations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7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Theme – </a:t>
            </a:r>
            <a:r>
              <a:rPr sz="18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Space Technology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7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PS Category – </a:t>
            </a:r>
            <a:r>
              <a:rPr sz="18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7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ID – </a:t>
            </a:r>
            <a:r>
              <a:rPr sz="18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135494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17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Name (Registered on portal) – </a:t>
            </a:r>
            <a:r>
              <a:rPr sz="18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sz="3200" b="1">
                <a:solidFill>
                  <a:srgbClr val="0B2F4E"/>
                </a:solidFill>
                <a:latin typeface="Times New Roman"/>
                <a:ea typeface="Times New Roman"/>
                <a:cs typeface="Times New Roman"/>
              </a:rPr>
              <a:t>OceanSight</a:t>
            </a:r>
          </a:p>
          <a:p>
            <a:pPr algn="ctr"/>
            <a:r>
              <a:rPr sz="1300" b="0">
                <a:solidFill>
                  <a:srgbClr val="0E869A"/>
                </a:solidFill>
                <a:latin typeface="Arial"/>
                <a:ea typeface="Arial"/>
                <a:cs typeface="Arial"/>
              </a:rPr>
              <a:t>Daily 0–1000 m ocean temperature for the North Indian Ocean — from satellites alone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320040" y="1216152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3" name="TextBox 15362"/>
          <p:cNvSpPr txBox="1"/>
          <p:nvPr/>
        </p:nvSpPr>
        <p:spPr>
          <a:xfrm>
            <a:off x="429768" y="1170432"/>
            <a:ext cx="770839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Proposed Solution</a:t>
            </a:r>
            <a:r>
              <a:rPr sz="10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Detailed explanation of the proposed solution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20040" y="1481328"/>
            <a:ext cx="781812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 </a:t>
            </a:r>
            <a:r>
              <a:rPr sz="12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reconstructs ocean temperature at </a:t>
            </a:r>
            <a:r>
              <a:rPr sz="125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 (0–1000 m), every day, on a 0.25° grid</a:t>
            </a:r>
            <a:r>
              <a:rPr sz="12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over the Bay of Bengal &amp; Arabian Sea — using only </a:t>
            </a:r>
            <a:r>
              <a:rPr sz="125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satellite surface fields</a:t>
            </a:r>
            <a:r>
              <a:rPr sz="12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— and turns it into cyclone-heat and mixed-layer products for ocean analysts and forecasters.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320040" y="2276856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429768" y="2231136"/>
            <a:ext cx="770839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How it addresses the problem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20040" y="2560320"/>
            <a:ext cx="2788920" cy="621792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TextBox 15367"/>
          <p:cNvSpPr txBox="1"/>
          <p:nvPr/>
        </p:nvSpPr>
        <p:spPr>
          <a:xfrm>
            <a:off x="393192" y="2560320"/>
            <a:ext cx="2670048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THE GAP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Floats, buoys &amp; ships sample the subsurface only at scattered points and times</a:t>
            </a:r>
          </a:p>
        </p:txBody>
      </p:sp>
      <p:sp>
        <p:nvSpPr>
          <p:cNvPr id="15369" name="Right Arrow 15368"/>
          <p:cNvSpPr/>
          <p:nvPr/>
        </p:nvSpPr>
        <p:spPr>
          <a:xfrm>
            <a:off x="3172968" y="2761488"/>
            <a:ext cx="201168" cy="201168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3447288" y="2560320"/>
            <a:ext cx="4690872" cy="6217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OCEANSIGHT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Satellites see the whole basin daily; a deep network learns the physical surface → subsurface link (e.g. sea-level anomaly → thermocline depth)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320040" y="3246120"/>
            <a:ext cx="115062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2" name="TextBox 15371"/>
          <p:cNvSpPr txBox="1"/>
          <p:nvPr/>
        </p:nvSpPr>
        <p:spPr>
          <a:xfrm>
            <a:off x="320040" y="3246120"/>
            <a:ext cx="1150620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inputs</a:t>
            </a:r>
          </a:p>
        </p:txBody>
      </p:sp>
      <p:sp>
        <p:nvSpPr>
          <p:cNvPr id="15373" name="Rectangle 15372"/>
          <p:cNvSpPr/>
          <p:nvPr/>
        </p:nvSpPr>
        <p:spPr>
          <a:xfrm>
            <a:off x="320040" y="3557015"/>
            <a:ext cx="1150620" cy="51206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4" name="TextBox 15373"/>
          <p:cNvSpPr txBox="1"/>
          <p:nvPr/>
        </p:nvSpPr>
        <p:spPr>
          <a:xfrm>
            <a:off x="320040" y="3557015"/>
            <a:ext cx="115062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SST · SSS · SLA ·
currents · winds</a:t>
            </a:r>
          </a:p>
        </p:txBody>
      </p:sp>
      <p:sp>
        <p:nvSpPr>
          <p:cNvPr id="15375" name="Right Arrow 15374"/>
          <p:cNvSpPr/>
          <p:nvPr/>
        </p:nvSpPr>
        <p:spPr>
          <a:xfrm>
            <a:off x="1498092" y="3712463"/>
            <a:ext cx="128016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ectangle 15375"/>
          <p:cNvSpPr/>
          <p:nvPr/>
        </p:nvSpPr>
        <p:spPr>
          <a:xfrm>
            <a:off x="1653540" y="3246120"/>
            <a:ext cx="115062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TextBox 15376"/>
          <p:cNvSpPr txBox="1"/>
          <p:nvPr/>
        </p:nvSpPr>
        <p:spPr>
          <a:xfrm>
            <a:off x="1653540" y="3246120"/>
            <a:ext cx="1150620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1653540" y="3557015"/>
            <a:ext cx="1150620" cy="51206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1653540" y="3557015"/>
            <a:ext cx="115062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+ regrid to
0.25°, daily</a:t>
            </a:r>
          </a:p>
        </p:txBody>
      </p:sp>
      <p:sp>
        <p:nvSpPr>
          <p:cNvPr id="15380" name="Right Arrow 15379"/>
          <p:cNvSpPr/>
          <p:nvPr/>
        </p:nvSpPr>
        <p:spPr>
          <a:xfrm>
            <a:off x="2831592" y="3712463"/>
            <a:ext cx="128016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Rectangle 15380"/>
          <p:cNvSpPr/>
          <p:nvPr/>
        </p:nvSpPr>
        <p:spPr>
          <a:xfrm>
            <a:off x="2987040" y="3246120"/>
            <a:ext cx="1150620" cy="31089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2" name="TextBox 15381"/>
          <p:cNvSpPr txBox="1"/>
          <p:nvPr/>
        </p:nvSpPr>
        <p:spPr>
          <a:xfrm>
            <a:off x="2987040" y="3246120"/>
            <a:ext cx="1150620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embedding</a:t>
            </a:r>
          </a:p>
        </p:txBody>
      </p:sp>
      <p:sp>
        <p:nvSpPr>
          <p:cNvPr id="15383" name="Rectangle 15382"/>
          <p:cNvSpPr/>
          <p:nvPr/>
        </p:nvSpPr>
        <p:spPr>
          <a:xfrm>
            <a:off x="2987040" y="3557015"/>
            <a:ext cx="1150620" cy="51206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4" name="TextBox 15383"/>
          <p:cNvSpPr txBox="1"/>
          <p:nvPr/>
        </p:nvSpPr>
        <p:spPr>
          <a:xfrm>
            <a:off x="2987040" y="3557015"/>
            <a:ext cx="115062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U-Net encoder
compresses the basin</a:t>
            </a:r>
          </a:p>
        </p:txBody>
      </p:sp>
      <p:sp>
        <p:nvSpPr>
          <p:cNvPr id="15385" name="Right Arrow 15384"/>
          <p:cNvSpPr/>
          <p:nvPr/>
        </p:nvSpPr>
        <p:spPr>
          <a:xfrm>
            <a:off x="4165092" y="3712463"/>
            <a:ext cx="128016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6" name="Rectangle 15385"/>
          <p:cNvSpPr/>
          <p:nvPr/>
        </p:nvSpPr>
        <p:spPr>
          <a:xfrm>
            <a:off x="4320540" y="3246120"/>
            <a:ext cx="115062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7" name="TextBox 15386"/>
          <p:cNvSpPr txBox="1"/>
          <p:nvPr/>
        </p:nvSpPr>
        <p:spPr>
          <a:xfrm>
            <a:off x="4320540" y="3246120"/>
            <a:ext cx="1150620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Reconstruct</a:t>
            </a:r>
          </a:p>
        </p:txBody>
      </p:sp>
      <p:sp>
        <p:nvSpPr>
          <p:cNvPr id="15388" name="Rectangle 15387"/>
          <p:cNvSpPr/>
          <p:nvPr/>
        </p:nvSpPr>
        <p:spPr>
          <a:xfrm>
            <a:off x="4320540" y="3557015"/>
            <a:ext cx="1150620" cy="51206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9" name="TextBox 15388"/>
          <p:cNvSpPr txBox="1"/>
          <p:nvPr/>
        </p:nvSpPr>
        <p:spPr>
          <a:xfrm>
            <a:off x="4320540" y="3557015"/>
            <a:ext cx="115062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depths, 0–1000 m
+ uncertainty</a:t>
            </a:r>
          </a:p>
        </p:txBody>
      </p:sp>
      <p:sp>
        <p:nvSpPr>
          <p:cNvPr id="15390" name="Right Arrow 15389"/>
          <p:cNvSpPr/>
          <p:nvPr/>
        </p:nvSpPr>
        <p:spPr>
          <a:xfrm>
            <a:off x="5498592" y="3712463"/>
            <a:ext cx="128016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1" name="Rectangle 15390"/>
          <p:cNvSpPr/>
          <p:nvPr/>
        </p:nvSpPr>
        <p:spPr>
          <a:xfrm>
            <a:off x="5654040" y="3246120"/>
            <a:ext cx="115062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2" name="TextBox 15391"/>
          <p:cNvSpPr txBox="1"/>
          <p:nvPr/>
        </p:nvSpPr>
        <p:spPr>
          <a:xfrm>
            <a:off x="5654040" y="3246120"/>
            <a:ext cx="1150620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Derive</a:t>
            </a:r>
          </a:p>
        </p:txBody>
      </p:sp>
      <p:sp>
        <p:nvSpPr>
          <p:cNvPr id="15393" name="Rectangle 15392"/>
          <p:cNvSpPr/>
          <p:nvPr/>
        </p:nvSpPr>
        <p:spPr>
          <a:xfrm>
            <a:off x="5654040" y="3557015"/>
            <a:ext cx="1150620" cy="51206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TextBox 15393"/>
          <p:cNvSpPr txBox="1"/>
          <p:nvPr/>
        </p:nvSpPr>
        <p:spPr>
          <a:xfrm>
            <a:off x="5654040" y="3557015"/>
            <a:ext cx="115062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TCHP · MLD ·
D20 · D26</a:t>
            </a:r>
          </a:p>
        </p:txBody>
      </p:sp>
      <p:sp>
        <p:nvSpPr>
          <p:cNvPr id="15395" name="Right Arrow 15394"/>
          <p:cNvSpPr/>
          <p:nvPr/>
        </p:nvSpPr>
        <p:spPr>
          <a:xfrm>
            <a:off x="6832092" y="3712463"/>
            <a:ext cx="128016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6" name="Rectangle 15395"/>
          <p:cNvSpPr/>
          <p:nvPr/>
        </p:nvSpPr>
        <p:spPr>
          <a:xfrm>
            <a:off x="6987540" y="3246120"/>
            <a:ext cx="115062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TextBox 15396"/>
          <p:cNvSpPr txBox="1"/>
          <p:nvPr/>
        </p:nvSpPr>
        <p:spPr>
          <a:xfrm>
            <a:off x="6987540" y="3246120"/>
            <a:ext cx="1150620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15398" name="Rectangle 15397"/>
          <p:cNvSpPr/>
          <p:nvPr/>
        </p:nvSpPr>
        <p:spPr>
          <a:xfrm>
            <a:off x="6987540" y="3557015"/>
            <a:ext cx="1150620" cy="51206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9" name="TextBox 15398"/>
          <p:cNvSpPr txBox="1"/>
          <p:nvPr/>
        </p:nvSpPr>
        <p:spPr>
          <a:xfrm>
            <a:off x="6987540" y="3557015"/>
            <a:ext cx="1150620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GIS dashboard ·
API · reports</a:t>
            </a:r>
          </a:p>
        </p:txBody>
      </p:sp>
      <p:pic>
        <p:nvPicPr>
          <p:cNvPr id="15400" name="Picture 15399" descr="map_crop_651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7" y="1353312"/>
            <a:ext cx="3547872" cy="1787794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5401" name="TextBox 15400"/>
          <p:cNvSpPr txBox="1"/>
          <p:nvPr/>
        </p:nvSpPr>
        <p:spPr>
          <a:xfrm>
            <a:off x="8339327" y="3168538"/>
            <a:ext cx="354787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prototype: </a:t>
            </a:r>
            <a:r>
              <a:rPr sz="8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temperature at 100 m on 11 May 2023 (held-out year) — dark purple ≈ 17 °C to yellow ≈ 28 °C; green dots = Argo floats; white line = Cyclone Mocha track (IBTrACS)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274320" y="4224528"/>
            <a:ext cx="11640312" cy="2066543"/>
          </a:xfrm>
          <a:prstGeom prst="roundRect">
            <a:avLst>
              <a:gd name="adj" fmla="val 5000"/>
            </a:avLst>
          </a:prstGeom>
          <a:solidFill>
            <a:srgbClr val="E3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3" name="TextBox 15402"/>
          <p:cNvSpPr txBox="1"/>
          <p:nvPr/>
        </p:nvSpPr>
        <p:spPr>
          <a:xfrm>
            <a:off x="457200" y="4279392"/>
            <a:ext cx="11247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INNOVATION AND UNIQUENESS OF THE SOLUTION</a:t>
            </a:r>
            <a:r>
              <a:rPr sz="1100" b="0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   —   why OceanSight is different</a:t>
            </a:r>
          </a:p>
        </p:txBody>
      </p:sp>
      <p:sp>
        <p:nvSpPr>
          <p:cNvPr id="15404" name="Rounded Rectangle 15403"/>
          <p:cNvSpPr/>
          <p:nvPr/>
        </p:nvSpPr>
        <p:spPr>
          <a:xfrm>
            <a:off x="457200" y="4645152"/>
            <a:ext cx="3648456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5" name="Rectangle 15404"/>
          <p:cNvSpPr/>
          <p:nvPr/>
        </p:nvSpPr>
        <p:spPr>
          <a:xfrm>
            <a:off x="457200" y="4736592"/>
            <a:ext cx="64008" cy="107899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6" name="TextBox 15405"/>
          <p:cNvSpPr txBox="1"/>
          <p:nvPr/>
        </p:nvSpPr>
        <p:spPr>
          <a:xfrm>
            <a:off x="594360" y="4700016"/>
            <a:ext cx="341985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01  </a:t>
            </a:r>
            <a:r>
              <a:rPr sz="12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Validated beyond training data</a:t>
            </a:r>
          </a:p>
        </p:txBody>
      </p:sp>
      <p:sp>
        <p:nvSpPr>
          <p:cNvPr id="15407" name="TextBox 15406"/>
          <p:cNvSpPr txBox="1"/>
          <p:nvPr/>
        </p:nvSpPr>
        <p:spPr>
          <a:xfrm>
            <a:off x="594360" y="5047488"/>
            <a:ext cx="341985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Scored against real Argo floats from a year it never saw — next to the training product's own error ceiling and an independent EN4 cross-check.</a:t>
            </a:r>
          </a:p>
        </p:txBody>
      </p:sp>
      <p:sp>
        <p:nvSpPr>
          <p:cNvPr id="15408" name="TextBox 15407"/>
          <p:cNvSpPr txBox="1"/>
          <p:nvPr/>
        </p:nvSpPr>
        <p:spPr>
          <a:xfrm>
            <a:off x="594360" y="5559552"/>
            <a:ext cx="3419856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held-out Argo profiles (2023)</a:t>
            </a:r>
          </a:p>
        </p:txBody>
      </p:sp>
      <p:sp>
        <p:nvSpPr>
          <p:cNvPr id="15409" name="Rounded Rectangle 15408"/>
          <p:cNvSpPr/>
          <p:nvPr/>
        </p:nvSpPr>
        <p:spPr>
          <a:xfrm>
            <a:off x="4270248" y="4645152"/>
            <a:ext cx="3648456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0" name="Rectangle 15409"/>
          <p:cNvSpPr/>
          <p:nvPr/>
        </p:nvSpPr>
        <p:spPr>
          <a:xfrm>
            <a:off x="4270248" y="4736592"/>
            <a:ext cx="64008" cy="107899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1" name="TextBox 15410"/>
          <p:cNvSpPr txBox="1"/>
          <p:nvPr/>
        </p:nvSpPr>
        <p:spPr>
          <a:xfrm>
            <a:off x="4407408" y="4700016"/>
            <a:ext cx="341985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02  </a:t>
            </a:r>
            <a:r>
              <a:rPr sz="12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Calibrated to the real ocean</a:t>
            </a:r>
          </a:p>
        </p:txBody>
      </p:sp>
      <p:sp>
        <p:nvSpPr>
          <p:cNvPr id="15412" name="TextBox 15411"/>
          <p:cNvSpPr txBox="1"/>
          <p:nvPr/>
        </p:nvSpPr>
        <p:spPr>
          <a:xfrm>
            <a:off x="4407408" y="5047488"/>
            <a:ext cx="341985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profile carries an error bar calibrated on 2022 floats that holds on 2023 — analysts can see when not to trust a value.</a:t>
            </a:r>
          </a:p>
        </p:txBody>
      </p:sp>
      <p:sp>
        <p:nvSpPr>
          <p:cNvPr id="15413" name="TextBox 15412"/>
          <p:cNvSpPr txBox="1"/>
          <p:nvPr/>
        </p:nvSpPr>
        <p:spPr>
          <a:xfrm>
            <a:off x="4407408" y="5559552"/>
            <a:ext cx="3419856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70%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of Argo values within ±1σ (ideal 68%)</a:t>
            </a:r>
          </a:p>
        </p:txBody>
      </p:sp>
      <p:sp>
        <p:nvSpPr>
          <p:cNvPr id="15414" name="Rounded Rectangle 15413"/>
          <p:cNvSpPr/>
          <p:nvPr/>
        </p:nvSpPr>
        <p:spPr>
          <a:xfrm>
            <a:off x="8083296" y="4645152"/>
            <a:ext cx="3648456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Rectangle 15414"/>
          <p:cNvSpPr/>
          <p:nvPr/>
        </p:nvSpPr>
        <p:spPr>
          <a:xfrm>
            <a:off x="8083296" y="4736592"/>
            <a:ext cx="64008" cy="107899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6" name="TextBox 15415"/>
          <p:cNvSpPr txBox="1"/>
          <p:nvPr/>
        </p:nvSpPr>
        <p:spPr>
          <a:xfrm>
            <a:off x="8220456" y="4700016"/>
            <a:ext cx="3419856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03  </a:t>
            </a:r>
            <a:r>
              <a:rPr sz="12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Reconstruction → decisions</a:t>
            </a:r>
          </a:p>
        </p:txBody>
      </p:sp>
      <p:sp>
        <p:nvSpPr>
          <p:cNvPr id="15417" name="TextBox 15416"/>
          <p:cNvSpPr txBox="1"/>
          <p:nvPr/>
        </p:nvSpPr>
        <p:spPr>
          <a:xfrm>
            <a:off x="8220456" y="5047488"/>
            <a:ext cx="341985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Daily cyclone heat potential, mixed-layer and isotherm depths at 0.25°, replayed on real IBTrACS cyclone tracks.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8220456" y="5559552"/>
            <a:ext cx="3419856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TCHP · MLD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D20 · D26 — every day, 2019–2023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457200" y="5943600"/>
            <a:ext cx="11247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surface fields  →  validated, uncertainty-aware 3-D ocean temperature  →  INCOIS decision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216152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29768" y="1170432"/>
            <a:ext cx="3822191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Technologies to be used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536192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320040" y="1536192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627631" y="1536192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NOAA OISST (SST) · SMAP + SMOS (SSS) · NOAA altimetry (SLA, currents) · NCEI Seawinds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2084831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20040" y="2084831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Target &amp; validation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627631" y="2084831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HYCOM 1/12° analysis (GLORYS adapter built) · Argo via argopy · Met Office EN4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633472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320040" y="2633472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/ AI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627631" y="2633472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PyTorch U-Net (satellite embedding) · LightGBM baseline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20040" y="3182112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320040" y="3182112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 engineering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627631" y="3182112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Python · xarray · Zarr (daily cubes) · NumPy regridding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20040" y="3730752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20040" y="3730752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Geospatial / DB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627631" y="3730752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PostgreSQL + PostGIS (spatial indexes, nearest-float queries)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4279392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320040" y="4279392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627631" y="4279392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FastAPI — typed REST API, PDF/CSV reports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828031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320040" y="4828031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Frontend / GIS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627631" y="4828031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Next.js · MapLibre GL · deck.gl · Recharts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5376671"/>
            <a:ext cx="1234440" cy="475488"/>
          </a:xfrm>
          <a:prstGeom prst="roundRect">
            <a:avLst>
              <a:gd name="adj" fmla="val 12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20040" y="5376671"/>
            <a:ext cx="123444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Engineering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627631" y="5376671"/>
            <a:ext cx="2624328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Docker · GitHub Actions CI · 44 automated tests · CPU-only</a:t>
            </a:r>
          </a:p>
        </p:txBody>
      </p:sp>
      <p:sp>
        <p:nvSpPr>
          <p:cNvPr id="17436" name="Rectangle 17435"/>
          <p:cNvSpPr/>
          <p:nvPr/>
        </p:nvSpPr>
        <p:spPr>
          <a:xfrm>
            <a:off x="4526280" y="1216152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4636008" y="1170432"/>
            <a:ext cx="725119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Methodology and process for implementation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4526280" y="1572768"/>
            <a:ext cx="108966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TextBox 17438"/>
          <p:cNvSpPr txBox="1"/>
          <p:nvPr/>
        </p:nvSpPr>
        <p:spPr>
          <a:xfrm>
            <a:off x="4526280" y="1572768"/>
            <a:ext cx="10896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4526280" y="1883664"/>
            <a:ext cx="1089660" cy="566928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4526280" y="1883664"/>
            <a:ext cx="108966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fields · 1,826 days
(2019–2023)</a:t>
            </a:r>
          </a:p>
        </p:txBody>
      </p:sp>
      <p:sp>
        <p:nvSpPr>
          <p:cNvPr id="17442" name="Right Arrow 17441"/>
          <p:cNvSpPr/>
          <p:nvPr/>
        </p:nvSpPr>
        <p:spPr>
          <a:xfrm>
            <a:off x="5634228" y="2075688"/>
            <a:ext cx="128015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Rectangle 17442"/>
          <p:cNvSpPr/>
          <p:nvPr/>
        </p:nvSpPr>
        <p:spPr>
          <a:xfrm>
            <a:off x="5780532" y="1572768"/>
            <a:ext cx="108966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5780532" y="1572768"/>
            <a:ext cx="10896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5780532" y="1883664"/>
            <a:ext cx="1089660" cy="566928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5780532" y="1883664"/>
            <a:ext cx="108966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· gap-fill ·
regrid to 0.25°</a:t>
            </a:r>
          </a:p>
        </p:txBody>
      </p:sp>
      <p:sp>
        <p:nvSpPr>
          <p:cNvPr id="17447" name="Right Arrow 17446"/>
          <p:cNvSpPr/>
          <p:nvPr/>
        </p:nvSpPr>
        <p:spPr>
          <a:xfrm>
            <a:off x="6888480" y="2075688"/>
            <a:ext cx="128015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Rectangle 17447"/>
          <p:cNvSpPr/>
          <p:nvPr/>
        </p:nvSpPr>
        <p:spPr>
          <a:xfrm>
            <a:off x="7034784" y="1572768"/>
            <a:ext cx="108966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7034784" y="1572768"/>
            <a:ext cx="10896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7034784" y="1883664"/>
            <a:ext cx="1089660" cy="566928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7034784" y="1883664"/>
            <a:ext cx="108966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7 channels + lat/lon
+ season</a:t>
            </a:r>
          </a:p>
        </p:txBody>
      </p:sp>
      <p:sp>
        <p:nvSpPr>
          <p:cNvPr id="17452" name="Right Arrow 17451"/>
          <p:cNvSpPr/>
          <p:nvPr/>
        </p:nvSpPr>
        <p:spPr>
          <a:xfrm>
            <a:off x="8142731" y="2075688"/>
            <a:ext cx="128015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Rectangle 17452"/>
          <p:cNvSpPr/>
          <p:nvPr/>
        </p:nvSpPr>
        <p:spPr>
          <a:xfrm>
            <a:off x="8289036" y="1572768"/>
            <a:ext cx="1089660" cy="31089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8289036" y="1572768"/>
            <a:ext cx="10896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U-Net model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8289036" y="1883664"/>
            <a:ext cx="1089660" cy="566928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8289036" y="1883664"/>
            <a:ext cx="108966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embedding → 15 depths
+ uncertainty (σ)</a:t>
            </a:r>
          </a:p>
        </p:txBody>
      </p:sp>
      <p:sp>
        <p:nvSpPr>
          <p:cNvPr id="17457" name="Right Arrow 17456"/>
          <p:cNvSpPr/>
          <p:nvPr/>
        </p:nvSpPr>
        <p:spPr>
          <a:xfrm>
            <a:off x="9396984" y="2075688"/>
            <a:ext cx="128015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Rectangle 17457"/>
          <p:cNvSpPr/>
          <p:nvPr/>
        </p:nvSpPr>
        <p:spPr>
          <a:xfrm>
            <a:off x="9543288" y="1572768"/>
            <a:ext cx="108966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TextBox 17458"/>
          <p:cNvSpPr txBox="1"/>
          <p:nvPr/>
        </p:nvSpPr>
        <p:spPr>
          <a:xfrm>
            <a:off x="9543288" y="1572768"/>
            <a:ext cx="10896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9543288" y="1883664"/>
            <a:ext cx="1089660" cy="566928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9543288" y="1883664"/>
            <a:ext cx="108966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held-out Argo · EN4
· σ calibration</a:t>
            </a:r>
          </a:p>
        </p:txBody>
      </p:sp>
      <p:sp>
        <p:nvSpPr>
          <p:cNvPr id="17462" name="Right Arrow 17461"/>
          <p:cNvSpPr/>
          <p:nvPr/>
        </p:nvSpPr>
        <p:spPr>
          <a:xfrm>
            <a:off x="10651236" y="2075688"/>
            <a:ext cx="128015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3" name="Rectangle 17462"/>
          <p:cNvSpPr/>
          <p:nvPr/>
        </p:nvSpPr>
        <p:spPr>
          <a:xfrm>
            <a:off x="10797540" y="1572768"/>
            <a:ext cx="1089660" cy="310896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10797540" y="1572768"/>
            <a:ext cx="108966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10797540" y="1883664"/>
            <a:ext cx="1089660" cy="566928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10797540" y="1883664"/>
            <a:ext cx="108966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Zarr + PostGIS +
FastAPI → GIS app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4526280" y="2724912"/>
            <a:ext cx="73609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Honest evaluation — split by whole years, never random days</a:t>
            </a:r>
          </a:p>
        </p:txBody>
      </p:sp>
      <p:sp>
        <p:nvSpPr>
          <p:cNvPr id="17468" name="Rectangle 17467"/>
          <p:cNvSpPr/>
          <p:nvPr/>
        </p:nvSpPr>
        <p:spPr>
          <a:xfrm>
            <a:off x="4526280" y="3035808"/>
            <a:ext cx="1399032" cy="329184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4526280" y="3035808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2019</a:t>
            </a:r>
          </a:p>
        </p:txBody>
      </p:sp>
      <p:sp>
        <p:nvSpPr>
          <p:cNvPr id="17470" name="Rectangle 17469"/>
          <p:cNvSpPr/>
          <p:nvPr/>
        </p:nvSpPr>
        <p:spPr>
          <a:xfrm>
            <a:off x="6016752" y="3035808"/>
            <a:ext cx="1399032" cy="329184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1" name="TextBox 17470"/>
          <p:cNvSpPr txBox="1"/>
          <p:nvPr/>
        </p:nvSpPr>
        <p:spPr>
          <a:xfrm>
            <a:off x="6016752" y="3035808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2020</a:t>
            </a:r>
          </a:p>
        </p:txBody>
      </p:sp>
      <p:sp>
        <p:nvSpPr>
          <p:cNvPr id="17472" name="Rectangle 17471"/>
          <p:cNvSpPr/>
          <p:nvPr/>
        </p:nvSpPr>
        <p:spPr>
          <a:xfrm>
            <a:off x="7507224" y="3035808"/>
            <a:ext cx="1399032" cy="329184"/>
          </a:xfrm>
          <a:prstGeom prst="rect">
            <a:avLst/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TextBox 17472"/>
          <p:cNvSpPr txBox="1"/>
          <p:nvPr/>
        </p:nvSpPr>
        <p:spPr>
          <a:xfrm>
            <a:off x="7507224" y="3035808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7474" name="Rectangle 17473"/>
          <p:cNvSpPr/>
          <p:nvPr/>
        </p:nvSpPr>
        <p:spPr>
          <a:xfrm>
            <a:off x="8997696" y="3035808"/>
            <a:ext cx="1399032" cy="329184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8997696" y="3035808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2022</a:t>
            </a:r>
          </a:p>
        </p:txBody>
      </p:sp>
      <p:sp>
        <p:nvSpPr>
          <p:cNvPr id="17476" name="Rectangle 17475"/>
          <p:cNvSpPr/>
          <p:nvPr/>
        </p:nvSpPr>
        <p:spPr>
          <a:xfrm>
            <a:off x="10488168" y="3035808"/>
            <a:ext cx="1399032" cy="329184"/>
          </a:xfrm>
          <a:prstGeom prst="rect">
            <a:avLst/>
          </a:prstGeom>
          <a:solidFill>
            <a:srgbClr val="B3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10488168" y="3035808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2023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4526280" y="3383280"/>
            <a:ext cx="437997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TRAIN — model fitting, normalisation, climatology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8997696" y="3383280"/>
            <a:ext cx="139903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VALIDATE — early stop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10488168" y="3383280"/>
            <a:ext cx="1399032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TEST — fully held out</a:t>
            </a:r>
          </a:p>
        </p:txBody>
      </p:sp>
      <p:sp>
        <p:nvSpPr>
          <p:cNvPr id="17481" name="TextBox 17480"/>
          <p:cNvSpPr txBox="1"/>
          <p:nvPr/>
        </p:nvSpPr>
        <p:spPr>
          <a:xfrm>
            <a:off x="4526280" y="3767328"/>
            <a:ext cx="73609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Models, compared side by side — the deep model has to earn its place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4526280" y="4078224"/>
            <a:ext cx="22707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3" name="TextBox 17482"/>
          <p:cNvSpPr txBox="1"/>
          <p:nvPr/>
        </p:nvSpPr>
        <p:spPr>
          <a:xfrm>
            <a:off x="4599432" y="4114800"/>
            <a:ext cx="2124456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Seasonal climatology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harmonic fit per cell &amp; depth — the floor to beat</a:t>
            </a:r>
          </a:p>
        </p:txBody>
      </p:sp>
      <p:sp>
        <p:nvSpPr>
          <p:cNvPr id="17484" name="Right Arrow 17483"/>
          <p:cNvSpPr/>
          <p:nvPr/>
        </p:nvSpPr>
        <p:spPr>
          <a:xfrm>
            <a:off x="6851904" y="4389120"/>
            <a:ext cx="16459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5" name="Rounded Rectangle 17484"/>
          <p:cNvSpPr/>
          <p:nvPr/>
        </p:nvSpPr>
        <p:spPr>
          <a:xfrm>
            <a:off x="7071360" y="4078224"/>
            <a:ext cx="22707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TextBox 17485"/>
          <p:cNvSpPr txBox="1"/>
          <p:nvPr/>
        </p:nvSpPr>
        <p:spPr>
          <a:xfrm>
            <a:off x="7144512" y="4114800"/>
            <a:ext cx="2124456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LightGBM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one model per depth — fast, interpretable baseline</a:t>
            </a:r>
          </a:p>
        </p:txBody>
      </p:sp>
      <p:sp>
        <p:nvSpPr>
          <p:cNvPr id="17487" name="Right Arrow 17486"/>
          <p:cNvSpPr/>
          <p:nvPr/>
        </p:nvSpPr>
        <p:spPr>
          <a:xfrm>
            <a:off x="9396984" y="4389120"/>
            <a:ext cx="16459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8" name="Rounded Rectangle 17487"/>
          <p:cNvSpPr/>
          <p:nvPr/>
        </p:nvSpPr>
        <p:spPr>
          <a:xfrm>
            <a:off x="9616440" y="4078224"/>
            <a:ext cx="22707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8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9" name="TextBox 17488"/>
          <p:cNvSpPr txBox="1"/>
          <p:nvPr/>
        </p:nvSpPr>
        <p:spPr>
          <a:xfrm>
            <a:off x="9689592" y="4114800"/>
            <a:ext cx="2124456" cy="7498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U-Net encoder–decoder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bottleneck = satellite embedding; 1.09 M parameters; mean + σ per depth</a:t>
            </a:r>
          </a:p>
        </p:txBody>
      </p:sp>
      <p:sp>
        <p:nvSpPr>
          <p:cNvPr id="17490" name="Rounded Rectangle 17489"/>
          <p:cNvSpPr/>
          <p:nvPr/>
        </p:nvSpPr>
        <p:spPr>
          <a:xfrm>
            <a:off x="4526280" y="5029200"/>
            <a:ext cx="7360920" cy="11887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4663440" y="5074920"/>
            <a:ext cx="7086600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VALIDATION — against the real ocean, not just the training data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4663440" y="5413248"/>
            <a:ext cx="168021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15,018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Argo profiles, QC flags 1/2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6435090" y="5413248"/>
            <a:ext cx="168021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 the held-out 2023 test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8206740" y="5413248"/>
            <a:ext cx="168021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per depth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RMSE · bias · r · skill vs climatology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9978390" y="5413248"/>
            <a:ext cx="168021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EN4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independent Met Office cross-check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216152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29768" y="1170432"/>
            <a:ext cx="1145743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Analysis of the feasibility of the idea</a:t>
            </a:r>
            <a:r>
              <a:rPr sz="10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working prototype, validated on the held-out year 2023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517904"/>
            <a:ext cx="2754630" cy="896112"/>
          </a:xfrm>
          <a:prstGeom prst="roundRect">
            <a:avLst>
              <a:gd name="adj" fmla="val 8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429768" y="1517904"/>
            <a:ext cx="1188720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2,639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581912" y="1517904"/>
            <a:ext cx="1419606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independent Argo profiles from 2023 — a year the model never trained 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517904"/>
            <a:ext cx="2754630" cy="896112"/>
          </a:xfrm>
          <a:prstGeom prst="roundRect">
            <a:avLst>
              <a:gd name="adj" fmla="val 8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367278" y="1517904"/>
            <a:ext cx="1188720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0.89 °C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19422" y="1517904"/>
            <a:ext cx="1419606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mean temperature error (RMSE, 15 depths) vs 1.10 °C for climatology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95060" y="1517904"/>
            <a:ext cx="2754630" cy="896112"/>
          </a:xfrm>
          <a:prstGeom prst="roundRect">
            <a:avLst>
              <a:gd name="adj" fmla="val 8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6304788" y="1517904"/>
            <a:ext cx="1188720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1.31 °C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7456932" y="1517904"/>
            <a:ext cx="1419606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error at 100 m (thermocline) vs 1.80 °C for climatology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132570" y="1517904"/>
            <a:ext cx="2754630" cy="896112"/>
          </a:xfrm>
          <a:prstGeom prst="roundRect">
            <a:avLst>
              <a:gd name="adj" fmla="val 8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9242298" y="1517904"/>
            <a:ext cx="1188720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0394442" y="1517904"/>
            <a:ext cx="1419606" cy="8961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 Argo values within ±1σ after calibration (ideal 68%; raw 41%)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20040" y="2615184"/>
            <a:ext cx="352044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FEASIBLE BECAUSE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320040" y="2944368"/>
            <a:ext cx="3520440" cy="60350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411479" y="2944368"/>
            <a:ext cx="960120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Data</a:t>
            </a:r>
          </a:p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344168" y="2944368"/>
            <a:ext cx="2441448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input, target and validation source used is open; Copernicus/ERA5 need only free sign-up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320040" y="3602735"/>
            <a:ext cx="3520440" cy="60350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411479" y="3602735"/>
            <a:ext cx="960120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Technical</a:t>
            </a:r>
          </a:p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344168" y="3602735"/>
            <a:ext cx="2441448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and running end to end: ingestion → models → API → dashboard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20040" y="4261103"/>
            <a:ext cx="3520440" cy="60350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411479" y="4261103"/>
            <a:ext cx="960120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Compute</a:t>
            </a:r>
          </a:p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344168" y="4261103"/>
            <a:ext cx="2441448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U-Net (1.09 M params) trained on a laptop CPU — no GPU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320040" y="4919471"/>
            <a:ext cx="3520440" cy="603504"/>
          </a:xfrm>
          <a:prstGeom prst="rect">
            <a:avLst/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411479" y="4919471"/>
            <a:ext cx="960120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Cost</a:t>
            </a:r>
          </a:p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₹0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1344168" y="4919471"/>
            <a:ext cx="2441448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 paid data or services used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20040" y="5596127"/>
            <a:ext cx="352044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IMPLEMENTED  </a:t>
            </a: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pipeline · models · validation · API · dashboard · Docker</a:t>
            </a:r>
          </a:p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PLANNED  </a:t>
            </a: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hosted deployment · re-run on Copernicus/GLORYS with credentials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114800" y="2615184"/>
            <a:ext cx="3246120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Potential challenges and risks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7744968" y="2615184"/>
            <a:ext cx="4142231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Strategies for overcoming these challenges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4114800" y="2944368"/>
            <a:ext cx="3246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Rectangle 17440"/>
          <p:cNvSpPr/>
          <p:nvPr/>
        </p:nvSpPr>
        <p:spPr>
          <a:xfrm>
            <a:off x="4114800" y="2944368"/>
            <a:ext cx="54864" cy="530352"/>
          </a:xfrm>
          <a:prstGeom prst="rect">
            <a:avLst/>
          </a:prstGeom>
          <a:solidFill>
            <a:srgbClr val="B3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4224528" y="2944368"/>
            <a:ext cx="3099815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Training target (a reanalysis) assimilates Argo → validation not fully independent</a:t>
            </a:r>
          </a:p>
        </p:txBody>
      </p:sp>
      <p:sp>
        <p:nvSpPr>
          <p:cNvPr id="17443" name="Right Arrow 17442"/>
          <p:cNvSpPr/>
          <p:nvPr/>
        </p:nvSpPr>
        <p:spPr>
          <a:xfrm>
            <a:off x="7434072" y="3118103"/>
            <a:ext cx="237744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Rectangle 17443"/>
          <p:cNvSpPr/>
          <p:nvPr/>
        </p:nvSpPr>
        <p:spPr>
          <a:xfrm>
            <a:off x="7744968" y="2944368"/>
            <a:ext cx="4142231" cy="530352"/>
          </a:xfrm>
          <a:prstGeom prst="rect">
            <a:avLst/>
          </a:prstGeom>
          <a:solidFill>
            <a:srgbClr val="E3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Rectangle 17444"/>
          <p:cNvSpPr/>
          <p:nvPr/>
        </p:nvSpPr>
        <p:spPr>
          <a:xfrm>
            <a:off x="7744968" y="2944368"/>
            <a:ext cx="54864" cy="53035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854696" y="2944368"/>
            <a:ext cx="3995927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Hold out a whole year; show the target product's own error as the ceiling (0.79 °C); cross-check against EN4</a:t>
            </a:r>
          </a:p>
        </p:txBody>
      </p:sp>
      <p:sp>
        <p:nvSpPr>
          <p:cNvPr id="17447" name="Rectangle 17446"/>
          <p:cNvSpPr/>
          <p:nvPr/>
        </p:nvSpPr>
        <p:spPr>
          <a:xfrm>
            <a:off x="4114800" y="3547872"/>
            <a:ext cx="3246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4114800" y="3547872"/>
            <a:ext cx="54864" cy="530352"/>
          </a:xfrm>
          <a:prstGeom prst="rect">
            <a:avLst/>
          </a:prstGeom>
          <a:solidFill>
            <a:srgbClr val="B3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4224528" y="3547872"/>
            <a:ext cx="3099815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Raw model uncertainty was over-confident (41% of values within ±1σ)</a:t>
            </a:r>
          </a:p>
        </p:txBody>
      </p:sp>
      <p:sp>
        <p:nvSpPr>
          <p:cNvPr id="17450" name="Right Arrow 17449"/>
          <p:cNvSpPr/>
          <p:nvPr/>
        </p:nvSpPr>
        <p:spPr>
          <a:xfrm>
            <a:off x="7434072" y="3721608"/>
            <a:ext cx="237744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Rectangle 17450"/>
          <p:cNvSpPr/>
          <p:nvPr/>
        </p:nvSpPr>
        <p:spPr>
          <a:xfrm>
            <a:off x="7744968" y="3547872"/>
            <a:ext cx="4142231" cy="530352"/>
          </a:xfrm>
          <a:prstGeom prst="rect">
            <a:avLst/>
          </a:prstGeom>
          <a:solidFill>
            <a:srgbClr val="E3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Rectangle 17451"/>
          <p:cNvSpPr/>
          <p:nvPr/>
        </p:nvSpPr>
        <p:spPr>
          <a:xfrm>
            <a:off x="7744968" y="3547872"/>
            <a:ext cx="54864" cy="53035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7854696" y="3547872"/>
            <a:ext cx="3995927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Per-depth calibration fitted on 2022 floats, verified on 2023 → 70% within ±1σ, 94% within ±2σ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4114800" y="4151376"/>
            <a:ext cx="3246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Rectangle 17454"/>
          <p:cNvSpPr/>
          <p:nvPr/>
        </p:nvSpPr>
        <p:spPr>
          <a:xfrm>
            <a:off x="4114800" y="4151376"/>
            <a:ext cx="54864" cy="530352"/>
          </a:xfrm>
          <a:prstGeom prst="rect">
            <a:avLst/>
          </a:prstGeom>
          <a:solidFill>
            <a:srgbClr val="B3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4224528" y="4151376"/>
            <a:ext cx="3099815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 salinity is gappy; removing it showed no measurable change in skill</a:t>
            </a:r>
          </a:p>
        </p:txBody>
      </p:sp>
      <p:sp>
        <p:nvSpPr>
          <p:cNvPr id="17457" name="Right Arrow 17456"/>
          <p:cNvSpPr/>
          <p:nvPr/>
        </p:nvSpPr>
        <p:spPr>
          <a:xfrm>
            <a:off x="7434072" y="4325112"/>
            <a:ext cx="237744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Rectangle 17457"/>
          <p:cNvSpPr/>
          <p:nvPr/>
        </p:nvSpPr>
        <p:spPr>
          <a:xfrm>
            <a:off x="7744968" y="4151376"/>
            <a:ext cx="4142231" cy="530352"/>
          </a:xfrm>
          <a:prstGeom prst="rect">
            <a:avLst/>
          </a:prstGeom>
          <a:solidFill>
            <a:srgbClr val="E3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Rectangle 17458"/>
          <p:cNvSpPr/>
          <p:nvPr/>
        </p:nvSpPr>
        <p:spPr>
          <a:xfrm>
            <a:off x="7744968" y="4151376"/>
            <a:ext cx="54864" cy="53035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7854696" y="4151376"/>
            <a:ext cx="3995927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Merged SMAP + bias-corrected SMOS (absent days 209 → 1); re-test with Copernicus SSS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4114800" y="4754880"/>
            <a:ext cx="3246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Rectangle 17461"/>
          <p:cNvSpPr/>
          <p:nvPr/>
        </p:nvSpPr>
        <p:spPr>
          <a:xfrm>
            <a:off x="4114800" y="4754880"/>
            <a:ext cx="54864" cy="530352"/>
          </a:xfrm>
          <a:prstGeom prst="rect">
            <a:avLst/>
          </a:prstGeom>
          <a:solidFill>
            <a:srgbClr val="B3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TextBox 17462"/>
          <p:cNvSpPr txBox="1"/>
          <p:nvPr/>
        </p:nvSpPr>
        <p:spPr>
          <a:xfrm>
            <a:off x="4224528" y="4754880"/>
            <a:ext cx="3099815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GLORYS / Copernicus data need an account</a:t>
            </a:r>
          </a:p>
        </p:txBody>
      </p:sp>
      <p:sp>
        <p:nvSpPr>
          <p:cNvPr id="17464" name="Right Arrow 17463"/>
          <p:cNvSpPr/>
          <p:nvPr/>
        </p:nvSpPr>
        <p:spPr>
          <a:xfrm>
            <a:off x="7434072" y="4928616"/>
            <a:ext cx="237744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5" name="Rectangle 17464"/>
          <p:cNvSpPr/>
          <p:nvPr/>
        </p:nvSpPr>
        <p:spPr>
          <a:xfrm>
            <a:off x="7744968" y="4754880"/>
            <a:ext cx="4142231" cy="530352"/>
          </a:xfrm>
          <a:prstGeom prst="rect">
            <a:avLst/>
          </a:prstGeom>
          <a:solidFill>
            <a:srgbClr val="E3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Rectangle 17465"/>
          <p:cNvSpPr/>
          <p:nvPr/>
        </p:nvSpPr>
        <p:spPr>
          <a:xfrm>
            <a:off x="7744968" y="4754880"/>
            <a:ext cx="54864" cy="53035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854696" y="4754880"/>
            <a:ext cx="3995927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Credentialed adapters already built — switching source is a config change, no code change</a:t>
            </a:r>
          </a:p>
        </p:txBody>
      </p:sp>
      <p:sp>
        <p:nvSpPr>
          <p:cNvPr id="17468" name="Rectangle 17467"/>
          <p:cNvSpPr/>
          <p:nvPr/>
        </p:nvSpPr>
        <p:spPr>
          <a:xfrm>
            <a:off x="4114800" y="5358384"/>
            <a:ext cx="3246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9" name="Rectangle 17468"/>
          <p:cNvSpPr/>
          <p:nvPr/>
        </p:nvSpPr>
        <p:spPr>
          <a:xfrm>
            <a:off x="4114800" y="5358384"/>
            <a:ext cx="54864" cy="530352"/>
          </a:xfrm>
          <a:prstGeom prst="rect">
            <a:avLst/>
          </a:prstGeom>
          <a:solidFill>
            <a:srgbClr val="B3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4224528" y="5358384"/>
            <a:ext cx="3099815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Thermocline (20–150 m) is the hardest layer to reconstruct</a:t>
            </a:r>
          </a:p>
        </p:txBody>
      </p:sp>
      <p:sp>
        <p:nvSpPr>
          <p:cNvPr id="17471" name="Right Arrow 17470"/>
          <p:cNvSpPr/>
          <p:nvPr/>
        </p:nvSpPr>
        <p:spPr>
          <a:xfrm>
            <a:off x="7434072" y="5532120"/>
            <a:ext cx="237744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2" name="Rectangle 17471"/>
          <p:cNvSpPr/>
          <p:nvPr/>
        </p:nvSpPr>
        <p:spPr>
          <a:xfrm>
            <a:off x="7744968" y="5358384"/>
            <a:ext cx="4142231" cy="530352"/>
          </a:xfrm>
          <a:prstGeom prst="rect">
            <a:avLst/>
          </a:prstGeom>
          <a:solidFill>
            <a:srgbClr val="E3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Rectangle 17472"/>
          <p:cNvSpPr/>
          <p:nvPr/>
        </p:nvSpPr>
        <p:spPr>
          <a:xfrm>
            <a:off x="7744968" y="5358384"/>
            <a:ext cx="54864" cy="530352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854696" y="5358384"/>
            <a:ext cx="3995927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Report error per depth, never one number; the uncertainty band widens where skill drops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216152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29768" y="1170432"/>
            <a:ext cx="606247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Potential impact on the target audience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536192"/>
            <a:ext cx="1440180" cy="82296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320040" y="1536192"/>
            <a:ext cx="1440180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 analysts &amp;
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INCOIS-style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1897379" y="1536192"/>
            <a:ext cx="1440180" cy="82296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1897379" y="1536192"/>
            <a:ext cx="1440180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Cyclone
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heat available to storms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474720" y="1536192"/>
            <a:ext cx="1440180" cy="82296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3474720" y="1536192"/>
            <a:ext cx="1440180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Fisheries-advisory
analysts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mixed layer &amp; thermocline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5052059" y="1536192"/>
            <a:ext cx="1440180" cy="82296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5052059" y="1536192"/>
            <a:ext cx="1440180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
researchers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daily 3-D record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20040" y="2395728"/>
            <a:ext cx="6172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1">
                <a:solidFill>
                  <a:srgbClr val="0E869A"/>
                </a:solidFill>
                <a:latin typeface="Arial"/>
                <a:ea typeface="Arial"/>
                <a:cs typeface="Arial"/>
              </a:rPr>
              <a:t>Decision support — not a replacement for operational ocean models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20040" y="2788920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29768" y="2743200"/>
            <a:ext cx="606247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Benefits of the solution</a:t>
            </a:r>
            <a:r>
              <a:rPr sz="10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social · economic · environmental · operational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0040" y="310896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Rectangle 17423"/>
          <p:cNvSpPr/>
          <p:nvPr/>
        </p:nvSpPr>
        <p:spPr>
          <a:xfrm>
            <a:off x="320040" y="3200400"/>
            <a:ext cx="54864" cy="914400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448056" y="3163824"/>
            <a:ext cx="2816351" cy="1005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SOCIAL</a:t>
            </a:r>
          </a:p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Basin-wide cyclone heat potential (TCHP) and mixed-layer maps for every day and every 0.25° cell of the domain.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474720" y="310896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Rectangle 17426"/>
          <p:cNvSpPr/>
          <p:nvPr/>
        </p:nvSpPr>
        <p:spPr>
          <a:xfrm>
            <a:off x="3474720" y="3200400"/>
            <a:ext cx="54864" cy="914400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3602736" y="3163824"/>
            <a:ext cx="2816351" cy="1005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ECONOMIC</a:t>
            </a:r>
          </a:p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only on free satellite data; the model trains on a CPU; products are precomputed, so viewing needs no heavy compute.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20040" y="4315968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ectangle 17429"/>
          <p:cNvSpPr/>
          <p:nvPr/>
        </p:nvSpPr>
        <p:spPr>
          <a:xfrm>
            <a:off x="320040" y="4407407"/>
            <a:ext cx="54864" cy="914400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448056" y="4370831"/>
            <a:ext cx="2816351" cy="1005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ENVIRONMENTAL / CLIMATE</a:t>
            </a:r>
          </a:p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 continuous daily record of upper-ocean heat and stratification for the North Indian Ocean (2019–2023).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474720" y="4315968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 w="952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Rectangle 17432"/>
          <p:cNvSpPr/>
          <p:nvPr/>
        </p:nvSpPr>
        <p:spPr>
          <a:xfrm>
            <a:off x="3474720" y="4407407"/>
            <a:ext cx="54864" cy="914400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602736" y="4370831"/>
            <a:ext cx="2816351" cy="100583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OPERATIONAL</a:t>
            </a:r>
          </a:p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Each profile ships with a calibrated error bar and the nearest independent Argo float — trust is visible, not assumed.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20040" y="5577840"/>
            <a:ext cx="6172200" cy="603504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320040" y="5577840"/>
            <a:ext cx="6172200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7FD3E0"/>
                </a:solidFill>
                <a:latin typeface="Arial"/>
                <a:ea typeface="Arial"/>
                <a:cs typeface="Arial"/>
              </a:rPr>
              <a:t>KEY OUTCOME   </a:t>
            </a: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full-basin subsurface view · daily · 0–1000 m · with measured confidence</a:t>
            </a:r>
          </a:p>
        </p:txBody>
      </p:sp>
      <p:sp>
        <p:nvSpPr>
          <p:cNvPr id="17437" name="Rectangle 17436"/>
          <p:cNvSpPr/>
          <p:nvPr/>
        </p:nvSpPr>
        <p:spPr>
          <a:xfrm>
            <a:off x="6766560" y="1216152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6876288" y="1170432"/>
            <a:ext cx="501091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</a:t>
            </a:r>
            <a:r>
              <a:rPr sz="10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real event, held-out year</a:t>
            </a:r>
          </a:p>
        </p:txBody>
      </p:sp>
      <p:pic>
        <p:nvPicPr>
          <p:cNvPr id="17439" name="Picture 17438" descr="fuel_crop_2157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1536192"/>
            <a:ext cx="2505456" cy="2557653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pic>
        <p:nvPicPr>
          <p:cNvPr id="17440" name="Picture 17439" descr="fuel_crop_6070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1744" y="1536192"/>
            <a:ext cx="2505456" cy="2664493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7441" name="TextBox 17440"/>
          <p:cNvSpPr txBox="1"/>
          <p:nvPr/>
        </p:nvSpPr>
        <p:spPr>
          <a:xfrm>
            <a:off x="6766560" y="4255549"/>
            <a:ext cx="51206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Cyclone Fuel Gauge — </a:t>
            </a:r>
            <a:r>
              <a:rPr sz="9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TCHP along Cyclone Mocha's real IBTrACS track (May 2023, ocean state 2 days before passage): 52.7–102 kJ/cm² over the ocean, above the 50 kJ/cm² level commonly linked to intensification. Prototype output, not an operational forecast.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6766560" y="5577840"/>
            <a:ext cx="163372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8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6766560" y="5577840"/>
            <a:ext cx="1633727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Click any cell</a:t>
            </a:r>
          </a:p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full 0–1000 m profile + σ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510016" y="5577840"/>
            <a:ext cx="163372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8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510016" y="5577840"/>
            <a:ext cx="1633727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Argo overlay</a:t>
            </a:r>
          </a:p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nearest independent float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0253472" y="5577840"/>
            <a:ext cx="163372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8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TextBox 17446"/>
          <p:cNvSpPr txBox="1"/>
          <p:nvPr/>
        </p:nvSpPr>
        <p:spPr>
          <a:xfrm>
            <a:off x="10253472" y="5577840"/>
            <a:ext cx="1633727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Export</a:t>
            </a:r>
          </a:p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PDF / CSV report per point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216152"/>
            <a:ext cx="64008" cy="219456"/>
          </a:xfrm>
          <a:prstGeom prst="rect">
            <a:avLst/>
          </a:prstGeom>
          <a:solidFill>
            <a:srgbClr val="0E8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29768" y="1170432"/>
            <a:ext cx="1145743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Details / Links of the reference and research work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320040" y="1554480"/>
          <a:ext cx="11567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206240"/>
                <a:gridCol w="2331720"/>
                <a:gridCol w="2194560"/>
                <a:gridCol w="24231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Reference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Organisation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supports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Link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SIH26066 OceanEmbed problem statement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SIH · MoES / INCOIS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Scope, domain, 15 standard depths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sih.gov.in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INCOIS Tropical Cyclone Heat Potential service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INCOIS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Operational relevance of TCHP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incois.gov.in/site/services/tchp.jsp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GLORYS12V1 global ocean reanalysis (PS-named target)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Copernicus Marine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Training-target specification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doi.org/10.48670/moi-00021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Argo float profiles via argopy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Argo programme · Euro-Argo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validation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argopy.readthedocs.io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NOAA OISST v2.1 · NCEI Blended Seawinds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Satellite inputs used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ncei.noaa.gov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EN4 quality-controlled ocean analysis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UK Met Office Hadley Centre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cross-check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metoffice.gov.uk/hadobs/en4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Bay of Bengal barrier layer (Vinayachandran et al., 2002)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JGR Oceans · AGU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Why salinity is an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doi.org/10.1029/2001JC000831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Subsurface temperature reconstruction, ConvLSTM vs LightGBM (2022)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MDPI Remote Sensing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Model choice; thermocline is hardest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doi.org/10.3390/rs14133198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IBTrACS v04r01 best-track 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Real cyclone tracks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</a:rPr>
                        <a:t>ncei.noaa.gov/products/international-best-track-archive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320040" y="5596128"/>
            <a:ext cx="11567160" cy="566928"/>
          </a:xfrm>
          <a:prstGeom prst="roundRect">
            <a:avLst>
              <a:gd name="adj" fmla="val 10000"/>
            </a:avLst>
          </a:prstGeom>
          <a:solidFill>
            <a:srgbClr val="E3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02920" y="559612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Prototype source code &amp; full research artifact:  </a:t>
            </a:r>
            <a:r>
              <a:rPr sz="1200" b="1" i="0">
                <a:solidFill>
                  <a:srgbClr val="0070C0"/>
                </a:solidFill>
                <a:latin typeface="Arial"/>
                <a:ea typeface="Arial"/>
                <a:cs typeface="Arial"/>
              </a:rPr>
              <a:t>github.com/saad-46/oceanembed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·   all reported metrics are generated by the pipeline (docs/RESULTS.md)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