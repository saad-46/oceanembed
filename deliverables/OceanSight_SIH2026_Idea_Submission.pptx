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Relationship Id="rId21" Type="http://schemas.openxmlformats.org/officeDocument/2006/relationships/image" Target="../media/image12.png"/><Relationship Id="rId2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32.png"/><Relationship Id="rId16" Type="http://schemas.openxmlformats.org/officeDocument/2006/relationships/image" Target="../media/image8.png"/><Relationship Id="rId17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25.png"/><Relationship Id="rId17" Type="http://schemas.openxmlformats.org/officeDocument/2006/relationships/image" Target="../media/image57.png"/><Relationship Id="rId18" Type="http://schemas.openxmlformats.org/officeDocument/2006/relationships/image" Target="../media/image58.png"/><Relationship Id="rId19" Type="http://schemas.openxmlformats.org/officeDocument/2006/relationships/image" Target="../media/image7.png"/><Relationship Id="rId20" Type="http://schemas.openxmlformats.org/officeDocument/2006/relationships/image" Target="../media/image59.png"/><Relationship Id="rId21" Type="http://schemas.openxmlformats.org/officeDocument/2006/relationships/image" Target="../media/image60.png"/><Relationship Id="rId22" Type="http://schemas.openxmlformats.org/officeDocument/2006/relationships/image" Target="../media/image6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2.png"/><Relationship Id="rId5" Type="http://schemas.openxmlformats.org/officeDocument/2006/relationships/hyperlink" Target="https://sih.gov.in" TargetMode="External"/><Relationship Id="rId6" Type="http://schemas.openxmlformats.org/officeDocument/2006/relationships/hyperlink" Target="https://incois.gov.in/site/services/tchp.jsp" TargetMode="External"/><Relationship Id="rId7" Type="http://schemas.openxmlformats.org/officeDocument/2006/relationships/hyperlink" Target="https://doi.org/10.48670/moi-00021" TargetMode="External"/><Relationship Id="rId8" Type="http://schemas.openxmlformats.org/officeDocument/2006/relationships/hyperlink" Target="https://argopy.readthedocs.io" TargetMode="External"/><Relationship Id="rId9" Type="http://schemas.openxmlformats.org/officeDocument/2006/relationships/hyperlink" Target="https://ncei.noaa.gov" TargetMode="External"/><Relationship Id="rId10" Type="http://schemas.openxmlformats.org/officeDocument/2006/relationships/hyperlink" Target="https://metoffice.gov.uk/hadobs/en4" TargetMode="External"/><Relationship Id="rId11" Type="http://schemas.openxmlformats.org/officeDocument/2006/relationships/hyperlink" Target="https://doi.org/10.1029/2001JC000831" TargetMode="External"/><Relationship Id="rId12" Type="http://schemas.openxmlformats.org/officeDocument/2006/relationships/hyperlink" Target="https://doi.org/10.3390/rs14133198" TargetMode="External"/><Relationship Id="rId13" Type="http://schemas.openxmlformats.org/officeDocument/2006/relationships/hyperlink" Target="https://ncei.noaa.gov/products/international-best-track-archive" TargetMode="External"/><Relationship Id="rId14" Type="http://schemas.openxmlformats.org/officeDocument/2006/relationships/hyperlink" Target="https://github.com/saad-46/oceanembed" TargetMode="External"/><Relationship Id="rId15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29184" y="1024128"/>
            <a:ext cx="6492240" cy="1143000"/>
          </a:xfrm>
        </p:spPr>
        <p:txBody>
          <a:bodyPr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Seeing 1000 m beneath the ocean surface — from satellites alone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395728"/>
            <a:ext cx="6035040" cy="420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SIH26066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Title – </a:t>
            </a:r>
            <a:r>
              <a:rPr sz="1500" b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OceanEmbed – Satellite Embedding-Based Deep Learning Framework for Reconstruction of Subsurface Ocean Temperature from Surface Satellite Observations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Space Technology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135494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3200" b="1">
                <a:solidFill>
                  <a:srgbClr val="0B2F4E"/>
                </a:solidFill>
                <a:latin typeface="Times New Roman"/>
                <a:ea typeface="Times New Roman"/>
                <a:cs typeface="Times New Roman"/>
              </a:rPr>
              <a:t>OceanSight</a:t>
            </a:r>
          </a:p>
          <a:p>
            <a:pPr algn="ctr"/>
            <a:r>
              <a:rPr sz="1300" b="0">
                <a:solidFill>
                  <a:srgbClr val="0E869A"/>
                </a:solidFill>
                <a:latin typeface="Arial"/>
                <a:ea typeface="Arial"/>
                <a:cs typeface="Arial"/>
              </a:rPr>
              <a:t>Daily 0–1000 m ocean temperature for the North Indian Ocean — from satellites alone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20040" y="1207008"/>
            <a:ext cx="7772400" cy="969264"/>
          </a:xfrm>
          <a:prstGeom prst="roundRect">
            <a:avLst>
              <a:gd name="adj" fmla="val 9433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3" name="Rounded Rectangle 15362"/>
          <p:cNvSpPr/>
          <p:nvPr/>
        </p:nvSpPr>
        <p:spPr>
          <a:xfrm>
            <a:off x="448056" y="128930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4" name="Picture 15363" descr="lightbulb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344168"/>
            <a:ext cx="164592" cy="164592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795528" y="1271016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Proposed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48056" y="1591056"/>
            <a:ext cx="751636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 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reconstructs ocean temperature at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 (0–1000 m), every day, on a 0.25° grid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over the Bay of Bengal &amp; Arabian Sea — using only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satellite surface fields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— and turns it into cyclone-heat and mixed-layer products for ocean analysts and forecasters.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20040" y="2267712"/>
            <a:ext cx="7772400" cy="1773936"/>
          </a:xfrm>
          <a:prstGeom prst="roundRect">
            <a:avLst>
              <a:gd name="adj" fmla="val 5154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448056" y="235000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9" name="Picture 15368" descr="target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2404872"/>
            <a:ext cx="164592" cy="164592"/>
          </a:xfrm>
          <a:prstGeom prst="rect">
            <a:avLst/>
          </a:prstGeom>
        </p:spPr>
      </p:pic>
      <p:sp>
        <p:nvSpPr>
          <p:cNvPr id="15370" name="TextBox 15369"/>
          <p:cNvSpPr txBox="1"/>
          <p:nvPr/>
        </p:nvSpPr>
        <p:spPr>
          <a:xfrm>
            <a:off x="795528" y="2331720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48056" y="2670048"/>
            <a:ext cx="2743200" cy="493776"/>
          </a:xfrm>
          <a:prstGeom prst="roundRect">
            <a:avLst>
              <a:gd name="adj" fmla="val 14814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2" name="Picture 15371" descr="triangle-alert-B36B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2798064"/>
            <a:ext cx="237744" cy="237744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832103" y="2670048"/>
            <a:ext cx="2304288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THE GAP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Floats, buoys &amp; ships sample the subsurface only at scattered points and times</a:t>
            </a:r>
          </a:p>
        </p:txBody>
      </p:sp>
      <p:sp>
        <p:nvSpPr>
          <p:cNvPr id="15374" name="Right Arrow 15373"/>
          <p:cNvSpPr/>
          <p:nvPr/>
        </p:nvSpPr>
        <p:spPr>
          <a:xfrm>
            <a:off x="3264408" y="2816352"/>
            <a:ext cx="237744" cy="201168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3575304" y="2670048"/>
            <a:ext cx="4389119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6" name="Picture 15375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6744" y="2798064"/>
            <a:ext cx="237744" cy="237744"/>
          </a:xfrm>
          <a:prstGeom prst="rect">
            <a:avLst/>
          </a:prstGeom>
        </p:spPr>
      </p:pic>
      <p:sp>
        <p:nvSpPr>
          <p:cNvPr id="15377" name="TextBox 15376"/>
          <p:cNvSpPr txBox="1"/>
          <p:nvPr/>
        </p:nvSpPr>
        <p:spPr>
          <a:xfrm>
            <a:off x="3959352" y="2670048"/>
            <a:ext cx="3950207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OCEANSIGHT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Satellites see the whole basin daily; a deep network learns the physical surface → subsurface link (e.g. sea-level anomaly → thermocline depth)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805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9" name="Picture 15378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876" y="3300984"/>
            <a:ext cx="201168" cy="201168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44805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inputs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4805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SST · SSS · SLA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currents · winds</a:t>
            </a:r>
          </a:p>
        </p:txBody>
      </p:sp>
      <p:sp>
        <p:nvSpPr>
          <p:cNvPr id="15382" name="Chevron 15381"/>
          <p:cNvSpPr/>
          <p:nvPr/>
        </p:nvSpPr>
        <p:spPr>
          <a:xfrm>
            <a:off x="1610868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1725168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4" name="Picture 15383" descr="grid-3x3-0E86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9988" y="3300984"/>
            <a:ext cx="201168" cy="201168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1725168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1725168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+ regrid to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0.25°, daily</a:t>
            </a:r>
          </a:p>
        </p:txBody>
      </p:sp>
      <p:sp>
        <p:nvSpPr>
          <p:cNvPr id="15387" name="Chevron 15386"/>
          <p:cNvSpPr/>
          <p:nvPr/>
        </p:nvSpPr>
        <p:spPr>
          <a:xfrm>
            <a:off x="2887980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3002280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9" name="Picture 15388" descr="brain-circuit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7100" y="3300984"/>
            <a:ext cx="201168" cy="201168"/>
          </a:xfrm>
          <a:prstGeom prst="rect">
            <a:avLst/>
          </a:prstGeom>
        </p:spPr>
      </p:pic>
      <p:sp>
        <p:nvSpPr>
          <p:cNvPr id="15390" name="TextBox 15389"/>
          <p:cNvSpPr txBox="1"/>
          <p:nvPr/>
        </p:nvSpPr>
        <p:spPr>
          <a:xfrm>
            <a:off x="3002280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embedding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3002280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encoder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compresses the basin</a:t>
            </a:r>
          </a:p>
        </p:txBody>
      </p:sp>
      <p:sp>
        <p:nvSpPr>
          <p:cNvPr id="15392" name="Chevron 15391"/>
          <p:cNvSpPr/>
          <p:nvPr/>
        </p:nvSpPr>
        <p:spPr>
          <a:xfrm>
            <a:off x="4165091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3" name="Rounded Rectangle 15392"/>
          <p:cNvSpPr/>
          <p:nvPr/>
        </p:nvSpPr>
        <p:spPr>
          <a:xfrm>
            <a:off x="4279392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4" name="Picture 15393" descr="layers-0E869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12" y="3300984"/>
            <a:ext cx="201168" cy="201168"/>
          </a:xfrm>
          <a:prstGeom prst="rect">
            <a:avLst/>
          </a:prstGeom>
        </p:spPr>
      </p:pic>
      <p:sp>
        <p:nvSpPr>
          <p:cNvPr id="15395" name="TextBox 15394"/>
          <p:cNvSpPr txBox="1"/>
          <p:nvPr/>
        </p:nvSpPr>
        <p:spPr>
          <a:xfrm>
            <a:off x="4279392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4279392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depths, 0–1000 m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uncertainty</a:t>
            </a:r>
          </a:p>
        </p:txBody>
      </p:sp>
      <p:sp>
        <p:nvSpPr>
          <p:cNvPr id="15397" name="Chevron 15396"/>
          <p:cNvSpPr/>
          <p:nvPr/>
        </p:nvSpPr>
        <p:spPr>
          <a:xfrm>
            <a:off x="5442204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5556504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9" name="Picture 15398" descr="gauge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1324" y="3300984"/>
            <a:ext cx="201168" cy="201168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5556504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Derive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5556504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TCHP · MLD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D20 · D26</a:t>
            </a:r>
          </a:p>
        </p:txBody>
      </p:sp>
      <p:sp>
        <p:nvSpPr>
          <p:cNvPr id="15402" name="Chevron 15401"/>
          <p:cNvSpPr/>
          <p:nvPr/>
        </p:nvSpPr>
        <p:spPr>
          <a:xfrm>
            <a:off x="6719316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03" name="Rounded Rectangle 15402"/>
          <p:cNvSpPr/>
          <p:nvPr/>
        </p:nvSpPr>
        <p:spPr>
          <a:xfrm>
            <a:off x="683361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4" name="Picture 15403" descr="monitor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8436" y="3300984"/>
            <a:ext cx="201168" cy="201168"/>
          </a:xfrm>
          <a:prstGeom prst="rect">
            <a:avLst/>
          </a:prstGeom>
        </p:spPr>
      </p:pic>
      <p:sp>
        <p:nvSpPr>
          <p:cNvPr id="15405" name="TextBox 15404"/>
          <p:cNvSpPr txBox="1"/>
          <p:nvPr/>
        </p:nvSpPr>
        <p:spPr>
          <a:xfrm>
            <a:off x="683361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683361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GIS dashboard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API · reports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8275320" y="1207008"/>
            <a:ext cx="3611880" cy="2834639"/>
          </a:xfrm>
          <a:prstGeom prst="roundRect">
            <a:avLst>
              <a:gd name="adj" fmla="val 322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8" name="Picture 15407" descr="map_crop_88067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6760" y="1298448"/>
            <a:ext cx="3429000" cy="1888628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5409" name="TextBox 15408"/>
          <p:cNvSpPr txBox="1"/>
          <p:nvPr/>
        </p:nvSpPr>
        <p:spPr>
          <a:xfrm>
            <a:off x="8366760" y="3278516"/>
            <a:ext cx="3429000" cy="671691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prototype: </a:t>
            </a:r>
            <a:r>
              <a:rPr sz="8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temperature at 100 m on 11 May 2023 (held-out year) — dark purple ≈ 17 °C to yellow ≈ 28 °C; green dots = Argo floats; white line = Cyclone Mocha track (IBTrACS)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274320" y="4133087"/>
            <a:ext cx="11640312" cy="2157984"/>
          </a:xfrm>
          <a:prstGeom prst="roundRect">
            <a:avLst>
              <a:gd name="adj" fmla="val 5084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1" name="Rounded Rectangle 15410"/>
          <p:cNvSpPr/>
          <p:nvPr/>
        </p:nvSpPr>
        <p:spPr>
          <a:xfrm>
            <a:off x="457200" y="422452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2" name="Picture 15411" descr="sparkles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379" y="4286707"/>
            <a:ext cx="186537" cy="186537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59536" y="4206240"/>
            <a:ext cx="10881360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  <a:r>
              <a:rPr sz="1100" b="0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   —   why OceanSight is different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457200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585216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6" name="Picture 15415" descr="badge-check-0E869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5683" y="4780483"/>
            <a:ext cx="241401" cy="241401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1078992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01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1078992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Validated beyond training data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585216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Scored against real Argo floats from a year it never saw — next to the training product's own error ceiling and an independent EN4 cross-check.</a:t>
            </a:r>
          </a:p>
        </p:txBody>
      </p:sp>
      <p:sp>
        <p:nvSpPr>
          <p:cNvPr id="15420" name="Rounded Rectangle 15419"/>
          <p:cNvSpPr/>
          <p:nvPr/>
        </p:nvSpPr>
        <p:spPr>
          <a:xfrm>
            <a:off x="548640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1" name="TextBox 15420"/>
          <p:cNvSpPr txBox="1"/>
          <p:nvPr/>
        </p:nvSpPr>
        <p:spPr>
          <a:xfrm>
            <a:off x="603504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held-out Argo profiles (2023)</a:t>
            </a:r>
          </a:p>
        </p:txBody>
      </p:sp>
      <p:sp>
        <p:nvSpPr>
          <p:cNvPr id="15422" name="Rounded Rectangle 15421"/>
          <p:cNvSpPr/>
          <p:nvPr/>
        </p:nvSpPr>
        <p:spPr>
          <a:xfrm>
            <a:off x="4270248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3" name="Oval 15422"/>
          <p:cNvSpPr/>
          <p:nvPr/>
        </p:nvSpPr>
        <p:spPr>
          <a:xfrm>
            <a:off x="4398264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24" name="Picture 15423" descr="crosshair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78731" y="4780483"/>
            <a:ext cx="241401" cy="241401"/>
          </a:xfrm>
          <a:prstGeom prst="rect">
            <a:avLst/>
          </a:prstGeom>
        </p:spPr>
      </p:pic>
      <p:sp>
        <p:nvSpPr>
          <p:cNvPr id="15425" name="TextBox 15424"/>
          <p:cNvSpPr txBox="1"/>
          <p:nvPr/>
        </p:nvSpPr>
        <p:spPr>
          <a:xfrm>
            <a:off x="4892040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02</a:t>
            </a:r>
          </a:p>
        </p:txBody>
      </p:sp>
      <p:sp>
        <p:nvSpPr>
          <p:cNvPr id="15426" name="TextBox 15425"/>
          <p:cNvSpPr txBox="1"/>
          <p:nvPr/>
        </p:nvSpPr>
        <p:spPr>
          <a:xfrm>
            <a:off x="4892040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Calibrated to the real ocean</a:t>
            </a:r>
          </a:p>
        </p:txBody>
      </p:sp>
      <p:sp>
        <p:nvSpPr>
          <p:cNvPr id="15427" name="TextBox 15426"/>
          <p:cNvSpPr txBox="1"/>
          <p:nvPr/>
        </p:nvSpPr>
        <p:spPr>
          <a:xfrm>
            <a:off x="4398264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profile carries an error bar calibrated on 2022 floats that holds on 2023 — analysts can see when not to trust a value.</a:t>
            </a:r>
          </a:p>
        </p:txBody>
      </p:sp>
      <p:sp>
        <p:nvSpPr>
          <p:cNvPr id="15428" name="Rounded Rectangle 15427"/>
          <p:cNvSpPr/>
          <p:nvPr/>
        </p:nvSpPr>
        <p:spPr>
          <a:xfrm>
            <a:off x="4361688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9" name="TextBox 15428"/>
          <p:cNvSpPr txBox="1"/>
          <p:nvPr/>
        </p:nvSpPr>
        <p:spPr>
          <a:xfrm>
            <a:off x="4416552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70%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of Argo values within ±1σ (ideal 68%)</a:t>
            </a:r>
          </a:p>
        </p:txBody>
      </p:sp>
      <p:sp>
        <p:nvSpPr>
          <p:cNvPr id="15430" name="Rounded Rectangle 15429"/>
          <p:cNvSpPr/>
          <p:nvPr/>
        </p:nvSpPr>
        <p:spPr>
          <a:xfrm>
            <a:off x="8083296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1" name="Oval 15430"/>
          <p:cNvSpPr/>
          <p:nvPr/>
        </p:nvSpPr>
        <p:spPr>
          <a:xfrm>
            <a:off x="8211312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32" name="Picture 15431" descr="gauge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91779" y="4780483"/>
            <a:ext cx="241401" cy="241401"/>
          </a:xfrm>
          <a:prstGeom prst="rect">
            <a:avLst/>
          </a:prstGeom>
        </p:spPr>
      </p:pic>
      <p:sp>
        <p:nvSpPr>
          <p:cNvPr id="15433" name="TextBox 15432"/>
          <p:cNvSpPr txBox="1"/>
          <p:nvPr/>
        </p:nvSpPr>
        <p:spPr>
          <a:xfrm>
            <a:off x="8705088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03</a:t>
            </a:r>
          </a:p>
        </p:txBody>
      </p:sp>
      <p:sp>
        <p:nvSpPr>
          <p:cNvPr id="15434" name="TextBox 15433"/>
          <p:cNvSpPr txBox="1"/>
          <p:nvPr/>
        </p:nvSpPr>
        <p:spPr>
          <a:xfrm>
            <a:off x="8705088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Reconstruction → decisions</a:t>
            </a:r>
          </a:p>
        </p:txBody>
      </p:sp>
      <p:sp>
        <p:nvSpPr>
          <p:cNvPr id="15435" name="TextBox 15434"/>
          <p:cNvSpPr txBox="1"/>
          <p:nvPr/>
        </p:nvSpPr>
        <p:spPr>
          <a:xfrm>
            <a:off x="8211312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Daily cyclone heat potential, mixed-layer and isotherm depths at 0.25°, replayed on real IBTrACS cyclone tracks.</a:t>
            </a:r>
          </a:p>
        </p:txBody>
      </p:sp>
      <p:sp>
        <p:nvSpPr>
          <p:cNvPr id="15436" name="Rounded Rectangle 15435"/>
          <p:cNvSpPr/>
          <p:nvPr/>
        </p:nvSpPr>
        <p:spPr>
          <a:xfrm>
            <a:off x="8174736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7" name="TextBox 15436"/>
          <p:cNvSpPr txBox="1"/>
          <p:nvPr/>
        </p:nvSpPr>
        <p:spPr>
          <a:xfrm>
            <a:off x="8229600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TCHP · MLD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D20 · D26 — every day, 2019–2023</a:t>
            </a:r>
          </a:p>
        </p:txBody>
      </p:sp>
      <p:sp>
        <p:nvSpPr>
          <p:cNvPr id="15438" name="TextBox 15437"/>
          <p:cNvSpPr txBox="1"/>
          <p:nvPr/>
        </p:nvSpPr>
        <p:spPr>
          <a:xfrm>
            <a:off x="457200" y="5998463"/>
            <a:ext cx="11274552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1">
                <a:solidFill>
                  <a:srgbClr val="BFE3EA"/>
                </a:solidFill>
                <a:latin typeface="Arial"/>
                <a:ea typeface="Arial"/>
                <a:cs typeface="Arial"/>
              </a:rPr>
              <a:t>Satellite surface fields  →  validated, uncertainty-aware 3-D ocean temperature  →  INCOIS decision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pu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3630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Technologies to be used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11479" y="1659636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satellite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" y="1721815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554480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911095" y="1554480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NOAA OISST (SST) · SMAP + SMOS (SSS) · NOAA altimetry (SLA, currents) · NCEI Seawinds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147011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411479" y="225216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badge-check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" y="2314346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147011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Target &amp; validation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911095" y="2147011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HYCOM 1/12° analysis (GLORYS adapter built) · Argo via argopy · Met Office EN4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0040" y="2739542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411479" y="284469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59" y="2906877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9542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ML / AI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911095" y="2739542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PyTorch U-Net (satellite embedding) · LightGBM baseline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20040" y="3332073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1479" y="3437229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database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59" y="3499408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332073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 engineering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911095" y="3332073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Python · xarray · Zarr (daily cubes) · NumPy regridding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3924604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4" name="Rounded Rectangle 17433"/>
          <p:cNvSpPr/>
          <p:nvPr/>
        </p:nvSpPr>
        <p:spPr>
          <a:xfrm>
            <a:off x="411479" y="402976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5" name="Picture 17434" descr="map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59" y="4091939"/>
            <a:ext cx="186537" cy="186537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795528" y="3924604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Geospatial / DB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911095" y="3924604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PostgreSQL + PostGIS (spatial indexes, nearest-float queries)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20040" y="4517136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9" name="Rounded Rectangle 17438"/>
          <p:cNvSpPr/>
          <p:nvPr/>
        </p:nvSpPr>
        <p:spPr>
          <a:xfrm>
            <a:off x="411479" y="4622292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0" name="Picture 17439" descr="server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3659" y="4684471"/>
            <a:ext cx="186537" cy="186537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795528" y="4517136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911095" y="4517136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— typed REST API, PDF/CSV reports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20040" y="5109667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11479" y="5214823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5" name="Picture 17444" descr="monitor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" y="5277002"/>
            <a:ext cx="186537" cy="186537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795528" y="5109667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Frontend / GIS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911095" y="5109667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Next.js · MapLibre GL · deck.gl · Recharts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5702198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9" name="Rounded Rectangle 17448"/>
          <p:cNvSpPr/>
          <p:nvPr/>
        </p:nvSpPr>
        <p:spPr>
          <a:xfrm>
            <a:off x="411479" y="580735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0" name="Picture 17449" descr="wrench-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659" y="5869533"/>
            <a:ext cx="186537" cy="186537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795528" y="5702198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Engineering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1911095" y="5702198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Docker · GitHub Actions CI · 44 automated tests · CPU-only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52628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4" name="Picture 17453" descr="workflow-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81144" y="1243584"/>
            <a:ext cx="164592" cy="164592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4873752" y="1170432"/>
            <a:ext cx="70134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Methodology and process for implementation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526280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57" name="Oval 17456"/>
          <p:cNvSpPr/>
          <p:nvPr/>
        </p:nvSpPr>
        <p:spPr>
          <a:xfrm>
            <a:off x="4937760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937760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526280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4526280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fields · 1,826 days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(2019–2023)</a:t>
            </a:r>
          </a:p>
        </p:txBody>
      </p:sp>
      <p:sp>
        <p:nvSpPr>
          <p:cNvPr id="17461" name="Chevron 17460"/>
          <p:cNvSpPr/>
          <p:nvPr/>
        </p:nvSpPr>
        <p:spPr>
          <a:xfrm>
            <a:off x="5632704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2" name="Rounded Rectangle 17461"/>
          <p:cNvSpPr/>
          <p:nvPr/>
        </p:nvSpPr>
        <p:spPr>
          <a:xfrm>
            <a:off x="5733288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3" name="Oval 17462"/>
          <p:cNvSpPr/>
          <p:nvPr/>
        </p:nvSpPr>
        <p:spPr>
          <a:xfrm>
            <a:off x="6144768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614476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5733288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5733288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· gap-fill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regrid to 0.25°</a:t>
            </a:r>
          </a:p>
        </p:txBody>
      </p:sp>
      <p:sp>
        <p:nvSpPr>
          <p:cNvPr id="17467" name="Chevron 17466"/>
          <p:cNvSpPr/>
          <p:nvPr/>
        </p:nvSpPr>
        <p:spPr>
          <a:xfrm>
            <a:off x="6839712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8" name="Rounded Rectangle 17467"/>
          <p:cNvSpPr/>
          <p:nvPr/>
        </p:nvSpPr>
        <p:spPr>
          <a:xfrm>
            <a:off x="6940296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9" name="Oval 17468"/>
          <p:cNvSpPr/>
          <p:nvPr/>
        </p:nvSpPr>
        <p:spPr>
          <a:xfrm>
            <a:off x="7351776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7351776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6940296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940296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7 channels + lat/lon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season</a:t>
            </a:r>
          </a:p>
        </p:txBody>
      </p:sp>
      <p:sp>
        <p:nvSpPr>
          <p:cNvPr id="17473" name="Chevron 17472"/>
          <p:cNvSpPr/>
          <p:nvPr/>
        </p:nvSpPr>
        <p:spPr>
          <a:xfrm>
            <a:off x="8046720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4" name="Rounded Rectangle 17473"/>
          <p:cNvSpPr/>
          <p:nvPr/>
        </p:nvSpPr>
        <p:spPr>
          <a:xfrm>
            <a:off x="8147304" y="1554480"/>
            <a:ext cx="1325880" cy="969264"/>
          </a:xfrm>
          <a:prstGeom prst="roundRect">
            <a:avLst>
              <a:gd name="adj" fmla="val 7547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5" name="Oval 17474"/>
          <p:cNvSpPr/>
          <p:nvPr/>
        </p:nvSpPr>
        <p:spPr>
          <a:xfrm>
            <a:off x="8682228" y="162763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868222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8147304" y="1920240"/>
            <a:ext cx="132588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model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147304" y="2103120"/>
            <a:ext cx="132588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embedding → 15 depths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uncertainty (σ)</a:t>
            </a:r>
          </a:p>
        </p:txBody>
      </p:sp>
      <p:sp>
        <p:nvSpPr>
          <p:cNvPr id="17479" name="Chevron 17478"/>
          <p:cNvSpPr/>
          <p:nvPr/>
        </p:nvSpPr>
        <p:spPr>
          <a:xfrm>
            <a:off x="9500615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0" name="Rounded Rectangle 17479"/>
          <p:cNvSpPr/>
          <p:nvPr/>
        </p:nvSpPr>
        <p:spPr>
          <a:xfrm>
            <a:off x="9601200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1" name="Oval 17480"/>
          <p:cNvSpPr/>
          <p:nvPr/>
        </p:nvSpPr>
        <p:spPr>
          <a:xfrm>
            <a:off x="10012680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2" name="TextBox 17481"/>
          <p:cNvSpPr txBox="1"/>
          <p:nvPr/>
        </p:nvSpPr>
        <p:spPr>
          <a:xfrm>
            <a:off x="10012680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9601200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9601200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held-out Argo · EN4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· σ calibration</a:t>
            </a:r>
          </a:p>
        </p:txBody>
      </p:sp>
      <p:sp>
        <p:nvSpPr>
          <p:cNvPr id="17485" name="Chevron 17484"/>
          <p:cNvSpPr/>
          <p:nvPr/>
        </p:nvSpPr>
        <p:spPr>
          <a:xfrm>
            <a:off x="10707624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6" name="Rounded Rectangle 17485"/>
          <p:cNvSpPr/>
          <p:nvPr/>
        </p:nvSpPr>
        <p:spPr>
          <a:xfrm>
            <a:off x="10808208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11219688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1121968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10808208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Serve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10808208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Zarr + PostGIS +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→ GIS app</a:t>
            </a:r>
          </a:p>
        </p:txBody>
      </p:sp>
      <p:pic>
        <p:nvPicPr>
          <p:cNvPr id="17491" name="Picture 17490" descr="calendar-range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26280" y="2679191"/>
            <a:ext cx="201168" cy="201168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4800600" y="2651760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Honest evaluation — split by whole years, never random days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526280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4526280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6016752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6016752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507224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7507224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8997696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0" name="TextBox 17499"/>
          <p:cNvSpPr txBox="1"/>
          <p:nvPr/>
        </p:nvSpPr>
        <p:spPr>
          <a:xfrm>
            <a:off x="8997696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10488168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10488168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4526280" y="3337560"/>
            <a:ext cx="4379976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TRAIN — model fitting, normalisation, climatology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8997696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VALIDATE — early stop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10488168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TEST — fully held out</a:t>
            </a:r>
          </a:p>
        </p:txBody>
      </p:sp>
      <p:pic>
        <p:nvPicPr>
          <p:cNvPr id="17506" name="Picture 17505" descr="scale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26280" y="3703320"/>
            <a:ext cx="201168" cy="201168"/>
          </a:xfrm>
          <a:prstGeom prst="rect">
            <a:avLst/>
          </a:prstGeom>
        </p:spPr>
      </p:pic>
      <p:sp>
        <p:nvSpPr>
          <p:cNvPr id="17507" name="TextBox 17506"/>
          <p:cNvSpPr txBox="1"/>
          <p:nvPr/>
        </p:nvSpPr>
        <p:spPr>
          <a:xfrm>
            <a:off x="4800600" y="3675887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Models, compared side by side — the deep model has to earn its place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452628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09" name="Rounded Rectangle 17508"/>
          <p:cNvSpPr/>
          <p:nvPr/>
        </p:nvSpPr>
        <p:spPr>
          <a:xfrm>
            <a:off x="461772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0" name="Picture 17509" descr="chart-line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7214" y="4294022"/>
            <a:ext cx="208483" cy="208483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503834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Seasonal climatology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harmonic fit per cell &amp; depth — the floor to beat</a:t>
            </a:r>
          </a:p>
        </p:txBody>
      </p:sp>
      <p:sp>
        <p:nvSpPr>
          <p:cNvPr id="17512" name="Right Arrow 17511"/>
          <p:cNvSpPr/>
          <p:nvPr/>
        </p:nvSpPr>
        <p:spPr>
          <a:xfrm>
            <a:off x="684276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3" name="Rounded Rectangle 17512"/>
          <p:cNvSpPr/>
          <p:nvPr/>
        </p:nvSpPr>
        <p:spPr>
          <a:xfrm>
            <a:off x="707136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6280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5" name="Picture 17514" descr="network-FFFFF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32294" y="4294022"/>
            <a:ext cx="208483" cy="208483"/>
          </a:xfrm>
          <a:prstGeom prst="rect">
            <a:avLst/>
          </a:prstGeom>
        </p:spPr>
      </p:pic>
      <p:sp>
        <p:nvSpPr>
          <p:cNvPr id="17516" name="TextBox 17515"/>
          <p:cNvSpPr txBox="1"/>
          <p:nvPr/>
        </p:nvSpPr>
        <p:spPr>
          <a:xfrm>
            <a:off x="758342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LightGBM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one model per depth — fast, interpretable baseline</a:t>
            </a:r>
          </a:p>
        </p:txBody>
      </p:sp>
      <p:sp>
        <p:nvSpPr>
          <p:cNvPr id="17517" name="Right Arrow 17516"/>
          <p:cNvSpPr/>
          <p:nvPr/>
        </p:nvSpPr>
        <p:spPr>
          <a:xfrm>
            <a:off x="938784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8" name="Rounded Rectangle 17517"/>
          <p:cNvSpPr/>
          <p:nvPr/>
        </p:nvSpPr>
        <p:spPr>
          <a:xfrm>
            <a:off x="961644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E3F3F6"/>
          </a:solidFill>
          <a:ln w="1905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970788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0" name="Picture 17519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7374" y="4294022"/>
            <a:ext cx="208483" cy="208483"/>
          </a:xfrm>
          <a:prstGeom prst="rect">
            <a:avLst/>
          </a:prstGeom>
        </p:spPr>
      </p:pic>
      <p:sp>
        <p:nvSpPr>
          <p:cNvPr id="17521" name="TextBox 17520"/>
          <p:cNvSpPr txBox="1"/>
          <p:nvPr/>
        </p:nvSpPr>
        <p:spPr>
          <a:xfrm>
            <a:off x="1012850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U-Net encoder–decoder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bottleneck = satellite embedding; 1.09 M parameters; mean + σ per depth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4526280" y="4919472"/>
            <a:ext cx="7360920" cy="1298448"/>
          </a:xfrm>
          <a:prstGeom prst="roundRect">
            <a:avLst>
              <a:gd name="adj" fmla="val 7042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23" name="Rounded Rectangle 17522"/>
          <p:cNvSpPr/>
          <p:nvPr/>
        </p:nvSpPr>
        <p:spPr>
          <a:xfrm>
            <a:off x="4654296" y="5010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4" name="Picture 17523" descr="shield-check-FFFFFF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09159" y="5065775"/>
            <a:ext cx="164592" cy="164592"/>
          </a:xfrm>
          <a:prstGeom prst="rect">
            <a:avLst/>
          </a:prstGeom>
        </p:spPr>
      </p:pic>
      <p:sp>
        <p:nvSpPr>
          <p:cNvPr id="17525" name="TextBox 17524"/>
          <p:cNvSpPr txBox="1"/>
          <p:nvPr/>
        </p:nvSpPr>
        <p:spPr>
          <a:xfrm>
            <a:off x="5001768" y="4992624"/>
            <a:ext cx="675741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VALIDATION — against the real ocean, not just the training data</a:t>
            </a:r>
          </a:p>
        </p:txBody>
      </p:sp>
      <p:sp>
        <p:nvSpPr>
          <p:cNvPr id="17526" name="Rounded Rectangle 17525"/>
          <p:cNvSpPr/>
          <p:nvPr/>
        </p:nvSpPr>
        <p:spPr>
          <a:xfrm>
            <a:off x="4654296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27" name="Picture 17526" descr="waves-0E869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45736" y="5449824"/>
            <a:ext cx="219456" cy="219456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5020056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15,018</a:t>
            </a:r>
          </a:p>
        </p:txBody>
      </p:sp>
      <p:sp>
        <p:nvSpPr>
          <p:cNvPr id="17529" name="TextBox 17528"/>
          <p:cNvSpPr txBox="1"/>
          <p:nvPr/>
        </p:nvSpPr>
        <p:spPr>
          <a:xfrm>
            <a:off x="4745736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Argo profiles, QC flags 1/2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6457950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1" name="Picture 17530" descr="calendar-check-0E869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49390" y="5449824"/>
            <a:ext cx="219456" cy="219456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6823710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533" name="TextBox 17532"/>
          <p:cNvSpPr txBox="1"/>
          <p:nvPr/>
        </p:nvSpPr>
        <p:spPr>
          <a:xfrm>
            <a:off x="6549390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 the held-out 2023 test</a:t>
            </a:r>
          </a:p>
        </p:txBody>
      </p:sp>
      <p:sp>
        <p:nvSpPr>
          <p:cNvPr id="17534" name="Rounded Rectangle 17533"/>
          <p:cNvSpPr/>
          <p:nvPr/>
        </p:nvSpPr>
        <p:spPr>
          <a:xfrm>
            <a:off x="8261604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5" name="Picture 17534" descr="layers-0E869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3044" y="5449824"/>
            <a:ext cx="219456" cy="219456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8627364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per depth</a:t>
            </a:r>
          </a:p>
        </p:txBody>
      </p:sp>
      <p:sp>
        <p:nvSpPr>
          <p:cNvPr id="17537" name="TextBox 17536"/>
          <p:cNvSpPr txBox="1"/>
          <p:nvPr/>
        </p:nvSpPr>
        <p:spPr>
          <a:xfrm>
            <a:off x="8353044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RMSE · bias · r · skill vs climatology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065258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9" name="Picture 17538" descr="badge-check-0E869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56698" y="5449824"/>
            <a:ext cx="219456" cy="219456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431018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EN4</a:t>
            </a:r>
          </a:p>
        </p:txBody>
      </p:sp>
      <p:sp>
        <p:nvSpPr>
          <p:cNvPr id="17541" name="TextBox 17540"/>
          <p:cNvSpPr txBox="1"/>
          <p:nvPr/>
        </p:nvSpPr>
        <p:spPr>
          <a:xfrm>
            <a:off x="10156698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independent Met Office cross-check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lipboard-check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Analysis of the feasibility of the idea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working prototype, validated on the held-out year 2023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6634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waves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1719072"/>
            <a:ext cx="219456" cy="21945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92354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634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independent Argo profiles from 2023 — a year the model never trained 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5755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340385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thermometer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7006" y="1719072"/>
            <a:ext cx="219456" cy="219456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86105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0.89 °C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40385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mean temperature error (RMSE, 15 depths) vs 1.10 °C for climatology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506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634136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arrow-down-to-line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1719072"/>
            <a:ext cx="219456" cy="219456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679856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1.31 °C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34136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error at 100 m (thermocline) vs 1.80 °C for climatology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13257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927887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crosshair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2026" y="1719072"/>
            <a:ext cx="219456" cy="219456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973607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27887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of Argo values within ±1σ after calibration (ideal 68%; raw 41%)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4" name="Picture 17433" descr="circle-check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904" y="2706624"/>
            <a:ext cx="164592" cy="164592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667512" y="2633472"/>
            <a:ext cx="31729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FEASIBLE BECAUSE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301752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37" name="Picture 17436" descr="database-1B8A4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" y="3172968"/>
            <a:ext cx="256032" cy="256032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777240" y="3072384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77240" y="3328415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777240" y="3328415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563624" y="3017520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input, target and validation source used is open; Copernicus/ERA5 need only free sign-up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3648456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3" name="Picture 17442" descr="cpu-1B8A4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" y="3803904"/>
            <a:ext cx="256032" cy="256032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777240" y="3703320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Technical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77240" y="395935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77240" y="3959352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563624" y="3648456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and running end to end: ingestion → models → API → dashboard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4279392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9" name="Picture 17448" descr="gauge-1B8A4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768" y="443484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777240" y="4334255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777240" y="4590288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777240" y="4590288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563624" y="4279392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U-Net (1.09 M params) trained on a laptop CPU — no GPU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20040" y="4910327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55" name="Picture 17454" descr="indian-rupee-1B8A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768" y="5065775"/>
            <a:ext cx="256032" cy="256032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77240" y="4965191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777240" y="5221223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777240" y="5221223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₹0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1563624" y="4910327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 paid data or services used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320040" y="5596127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320040" y="5596127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1325880" y="5559551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pipeline · models · validation · API · dashboard · Docker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320040" y="5980175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320040" y="5980175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1325880" y="5943599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hosted deployment · re-run on Copernicus/GLORYS with credentials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411480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7" name="Picture 17466" descr="triangle-alert-FFFFF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69663" y="2706624"/>
            <a:ext cx="164592" cy="164592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4462272" y="2633472"/>
            <a:ext cx="29443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7808975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0" name="Picture 17469" descr="shield-check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63840" y="2706624"/>
            <a:ext cx="164592" cy="164592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8156448" y="2633472"/>
            <a:ext cx="373075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114800" y="30175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3" name="Picture 17472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191256"/>
            <a:ext cx="219456" cy="219456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4498848" y="301752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Training target (a reanalysis) assimilates Argo → validation not fully independent</a:t>
            </a:r>
          </a:p>
        </p:txBody>
      </p:sp>
      <p:sp>
        <p:nvSpPr>
          <p:cNvPr id="17475" name="Right Arrow 17474"/>
          <p:cNvSpPr/>
          <p:nvPr/>
        </p:nvSpPr>
        <p:spPr>
          <a:xfrm>
            <a:off x="7479792" y="320954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6" name="Rounded Rectangle 17475"/>
          <p:cNvSpPr/>
          <p:nvPr/>
        </p:nvSpPr>
        <p:spPr>
          <a:xfrm>
            <a:off x="7808975" y="301752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7" name="Picture 17476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191256"/>
            <a:ext cx="219456" cy="219456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8193023" y="301752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Hold out a whole year; show the target product's own error as the ceiling (0.79 °C); cross-check against EN4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4114800" y="365760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0" name="Picture 17479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831336"/>
            <a:ext cx="219456" cy="219456"/>
          </a:xfrm>
          <a:prstGeom prst="rect">
            <a:avLst/>
          </a:prstGeom>
        </p:spPr>
      </p:pic>
      <p:sp>
        <p:nvSpPr>
          <p:cNvPr id="17481" name="TextBox 17480"/>
          <p:cNvSpPr txBox="1"/>
          <p:nvPr/>
        </p:nvSpPr>
        <p:spPr>
          <a:xfrm>
            <a:off x="4498848" y="365760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Raw model uncertainty was over-confident (41% of values within ±1σ)</a:t>
            </a:r>
          </a:p>
        </p:txBody>
      </p:sp>
      <p:sp>
        <p:nvSpPr>
          <p:cNvPr id="17482" name="Right Arrow 17481"/>
          <p:cNvSpPr/>
          <p:nvPr/>
        </p:nvSpPr>
        <p:spPr>
          <a:xfrm>
            <a:off x="7479792" y="384962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3" name="Rounded Rectangle 17482"/>
          <p:cNvSpPr/>
          <p:nvPr/>
        </p:nvSpPr>
        <p:spPr>
          <a:xfrm>
            <a:off x="7808975" y="365760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4" name="Picture 17483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831336"/>
            <a:ext cx="219456" cy="219456"/>
          </a:xfrm>
          <a:prstGeom prst="rect">
            <a:avLst/>
          </a:prstGeom>
        </p:spPr>
      </p:pic>
      <p:sp>
        <p:nvSpPr>
          <p:cNvPr id="17485" name="TextBox 17484"/>
          <p:cNvSpPr txBox="1"/>
          <p:nvPr/>
        </p:nvSpPr>
        <p:spPr>
          <a:xfrm>
            <a:off x="8193023" y="365760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Per-depth calibration fitted on 2022 floats, verified on 2023 → 70% within ±1σ, 94% within ±2σ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4114800" y="429768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7" name="Picture 17486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4471416"/>
            <a:ext cx="219456" cy="219456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4498848" y="429768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 salinity is gappy; removing it showed no measurable change in skill</a:t>
            </a:r>
          </a:p>
        </p:txBody>
      </p:sp>
      <p:sp>
        <p:nvSpPr>
          <p:cNvPr id="17489" name="Right Arrow 17488"/>
          <p:cNvSpPr/>
          <p:nvPr/>
        </p:nvSpPr>
        <p:spPr>
          <a:xfrm>
            <a:off x="7479792" y="448970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0" name="Rounded Rectangle 17489"/>
          <p:cNvSpPr/>
          <p:nvPr/>
        </p:nvSpPr>
        <p:spPr>
          <a:xfrm>
            <a:off x="7808975" y="429768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1" name="Picture 17490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4471416"/>
            <a:ext cx="219456" cy="219456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8193023" y="429768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Merged SMAP + bias-corrected SMOS (absent days 209 → 1); re-test with Copernicus SSS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114800" y="493776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4" name="Picture 17493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111496"/>
            <a:ext cx="219456" cy="219456"/>
          </a:xfrm>
          <a:prstGeom prst="rect">
            <a:avLst/>
          </a:prstGeom>
        </p:spPr>
      </p:pic>
      <p:sp>
        <p:nvSpPr>
          <p:cNvPr id="17495" name="TextBox 17494"/>
          <p:cNvSpPr txBox="1"/>
          <p:nvPr/>
        </p:nvSpPr>
        <p:spPr>
          <a:xfrm>
            <a:off x="4498848" y="493776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GLORYS / Copernicus data need an account</a:t>
            </a:r>
          </a:p>
        </p:txBody>
      </p:sp>
      <p:sp>
        <p:nvSpPr>
          <p:cNvPr id="17496" name="Right Arrow 17495"/>
          <p:cNvSpPr/>
          <p:nvPr/>
        </p:nvSpPr>
        <p:spPr>
          <a:xfrm>
            <a:off x="7479792" y="512978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7" name="Rounded Rectangle 17496"/>
          <p:cNvSpPr/>
          <p:nvPr/>
        </p:nvSpPr>
        <p:spPr>
          <a:xfrm>
            <a:off x="7808975" y="493776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8" name="Picture 17497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111496"/>
            <a:ext cx="219456" cy="219456"/>
          </a:xfrm>
          <a:prstGeom prst="rect">
            <a:avLst/>
          </a:prstGeom>
        </p:spPr>
      </p:pic>
      <p:sp>
        <p:nvSpPr>
          <p:cNvPr id="17499" name="TextBox 17498"/>
          <p:cNvSpPr txBox="1"/>
          <p:nvPr/>
        </p:nvSpPr>
        <p:spPr>
          <a:xfrm>
            <a:off x="8193023" y="493776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Credentialed adapters already built — switching source is a config change, no code change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4114800" y="557784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1" name="Picture 17500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751576"/>
            <a:ext cx="219456" cy="219456"/>
          </a:xfrm>
          <a:prstGeom prst="rect">
            <a:avLst/>
          </a:prstGeom>
        </p:spPr>
      </p:pic>
      <p:sp>
        <p:nvSpPr>
          <p:cNvPr id="17502" name="TextBox 17501"/>
          <p:cNvSpPr txBox="1"/>
          <p:nvPr/>
        </p:nvSpPr>
        <p:spPr>
          <a:xfrm>
            <a:off x="4498848" y="557784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Thermocline (20–150 m) is the hardest layer to reconstruct</a:t>
            </a:r>
          </a:p>
        </p:txBody>
      </p:sp>
      <p:sp>
        <p:nvSpPr>
          <p:cNvPr id="17503" name="Right Arrow 17502"/>
          <p:cNvSpPr/>
          <p:nvPr/>
        </p:nvSpPr>
        <p:spPr>
          <a:xfrm>
            <a:off x="7479792" y="576986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04" name="Rounded Rectangle 17503"/>
          <p:cNvSpPr/>
          <p:nvPr/>
        </p:nvSpPr>
        <p:spPr>
          <a:xfrm>
            <a:off x="7808975" y="557784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5" name="Picture 17504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751576"/>
            <a:ext cx="219456" cy="219456"/>
          </a:xfrm>
          <a:prstGeom prst="rect">
            <a:avLst/>
          </a:prstGeom>
        </p:spPr>
      </p:pic>
      <p:sp>
        <p:nvSpPr>
          <p:cNvPr id="17506" name="TextBox 17505"/>
          <p:cNvSpPr txBox="1"/>
          <p:nvPr/>
        </p:nvSpPr>
        <p:spPr>
          <a:xfrm>
            <a:off x="8193023" y="557784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Report error per depth, never one number; the uncertainty band widens where skill drops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users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4" name="Picture 17413" descr="waves-7FD3E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114" y="1627632"/>
            <a:ext cx="256032" cy="256032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320040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 analysts &amp;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INCOIS-style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897379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7" name="Picture 17416" descr="cloud-lightning-7FD3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9453" y="1627632"/>
            <a:ext cx="256032" cy="25603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1897379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Cyclone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heat available to storms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474720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fish-7FD3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6794" y="1627632"/>
            <a:ext cx="256032" cy="25603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474720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Fisheries-advisory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analysts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mixed layer &amp; thermocline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52059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3" name="Picture 17422" descr="microscope-7FD3E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4133" y="1627632"/>
            <a:ext cx="256032" cy="25603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052059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daily 3-D record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560320"/>
            <a:ext cx="6172200" cy="23774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1">
                <a:solidFill>
                  <a:srgbClr val="0E869A"/>
                </a:solidFill>
                <a:latin typeface="Arial"/>
                <a:ea typeface="Arial"/>
                <a:cs typeface="Arial"/>
              </a:rPr>
              <a:t>Decision support — not a replacement for operational ocean models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20040" y="2871216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7" name="Picture 17426" descr="heart-handshake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904" y="2926080"/>
            <a:ext cx="164592" cy="164592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67512" y="2852928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Benefits of the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social · economic · environmental · operational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3236976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0" name="Rounded Rectangle 17429"/>
          <p:cNvSpPr/>
          <p:nvPr/>
        </p:nvSpPr>
        <p:spPr>
          <a:xfrm>
            <a:off x="448056" y="3346704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1" name="Picture 17430" descr="users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550" y="3416198"/>
            <a:ext cx="208483" cy="208483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886968" y="3346704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SOCIAL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8056" y="3749039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Basin-wide cyclone heat potential (TCHP) and mixed-layer maps for every day and every 0.25° cell of the domain.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474720" y="3236976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5" name="Rounded Rectangle 17434"/>
          <p:cNvSpPr/>
          <p:nvPr/>
        </p:nvSpPr>
        <p:spPr>
          <a:xfrm>
            <a:off x="3602736" y="3346704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6" name="Picture 17435" descr="indian-rupee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2230" y="3416198"/>
            <a:ext cx="208483" cy="208483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4041648" y="3346704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ECONOMIC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602736" y="3749039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only on free satellite data; the model trains on a CPU; products are precomputed, so viewing needs no heavy compute.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4407408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0" name="Rounded Rectangle 17439"/>
          <p:cNvSpPr/>
          <p:nvPr/>
        </p:nvSpPr>
        <p:spPr>
          <a:xfrm>
            <a:off x="448056" y="4517136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1" name="Picture 17440" descr="leaf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7550" y="4586630"/>
            <a:ext cx="208483" cy="208483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886968" y="4517136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ENVIRONMENTAL / CLIMATE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48056" y="4919472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 continuous daily record of upper-ocean heat and stratification for the North Indian Ocean (2019–2023).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3474720" y="4407408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5" name="Rounded Rectangle 17444"/>
          <p:cNvSpPr/>
          <p:nvPr/>
        </p:nvSpPr>
        <p:spPr>
          <a:xfrm>
            <a:off x="3602736" y="4517136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6" name="Picture 17445" descr="activity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72230" y="4586630"/>
            <a:ext cx="208483" cy="208483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4041648" y="4517136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OPERATIONAL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3602736" y="4919472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Each profile ships with a calibrated error bar and the nearest independent Argo float — trust is visible, not assumed.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76656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0" name="Picture 17449" descr="monitor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1424" y="1243584"/>
            <a:ext cx="164592" cy="164592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7114032" y="1170432"/>
            <a:ext cx="4773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real event, held-out year</a:t>
            </a:r>
          </a:p>
        </p:txBody>
      </p:sp>
      <p:pic>
        <p:nvPicPr>
          <p:cNvPr id="17452" name="Picture 17451" descr="fuel_crop_21579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554480"/>
            <a:ext cx="2505456" cy="255765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pic>
        <p:nvPicPr>
          <p:cNvPr id="17453" name="Picture 17452" descr="fuel_crop_60702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1744" y="1554480"/>
            <a:ext cx="2505456" cy="266449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7454" name="TextBox 17453"/>
          <p:cNvSpPr txBox="1"/>
          <p:nvPr/>
        </p:nvSpPr>
        <p:spPr>
          <a:xfrm>
            <a:off x="6766560" y="4273837"/>
            <a:ext cx="5120640" cy="49933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Cyclone Fuel Gauge — </a:t>
            </a:r>
            <a:r>
              <a:rPr sz="9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TCHP along Cyclone Mocha's real IBTrACS track (May 2023, ocean state 2 days before passage): 52.7–102 kJ/cm² over the ocean, above the 50 kJ/cm² level commonly linked to intensification. Prototype output, not an operational forecast.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6766560" y="4828032"/>
            <a:ext cx="5120640" cy="640080"/>
          </a:xfrm>
          <a:prstGeom prst="roundRect">
            <a:avLst>
              <a:gd name="adj" fmla="val 1428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6" name="Rounded Rectangle 17455"/>
          <p:cNvSpPr/>
          <p:nvPr/>
        </p:nvSpPr>
        <p:spPr>
          <a:xfrm>
            <a:off x="6912864" y="4965192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7" name="Picture 17456" descr="target-FFFFFF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86016" y="5038344"/>
            <a:ext cx="219456" cy="219456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7388352" y="4828032"/>
            <a:ext cx="4389120" cy="6400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KEY OUTCOME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full-basin subsurface view · daily ·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0–1000 m · with measured confidence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320040" y="5577840"/>
            <a:ext cx="3733799" cy="658368"/>
          </a:xfrm>
          <a:prstGeom prst="roundRect">
            <a:avLst>
              <a:gd name="adj" fmla="val 13888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66344" y="57150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1" name="Picture 17460" descr="mouse-pointer-click-FFFFF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3153" y="5791809"/>
            <a:ext cx="230428" cy="230428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978407" y="5650992"/>
            <a:ext cx="294741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CLICK ANY CELL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978407" y="5925312"/>
            <a:ext cx="2947416" cy="237744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Full 0–1000 m temperature profile + uncertainty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4236720" y="5577840"/>
            <a:ext cx="3733799" cy="658368"/>
          </a:xfrm>
          <a:prstGeom prst="roundRect">
            <a:avLst>
              <a:gd name="adj" fmla="val 13888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5" name="Rounded Rectangle 17464"/>
          <p:cNvSpPr/>
          <p:nvPr/>
        </p:nvSpPr>
        <p:spPr>
          <a:xfrm>
            <a:off x="4383024" y="57150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6" name="Picture 17465" descr="map-pin-FFFFF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59833" y="5791809"/>
            <a:ext cx="230428" cy="230428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4895087" y="5650992"/>
            <a:ext cx="294741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ARGO OVERLAY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4895087" y="5925312"/>
            <a:ext cx="2947416" cy="237744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Compare with the nearest independent Argo float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8153399" y="5577840"/>
            <a:ext cx="3733799" cy="658368"/>
          </a:xfrm>
          <a:prstGeom prst="roundRect">
            <a:avLst>
              <a:gd name="adj" fmla="val 13888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8299704" y="571500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1" name="Picture 17470" descr="file-down-FFFFFF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76513" y="5791809"/>
            <a:ext cx="230428" cy="230428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811768" y="5650992"/>
            <a:ext cx="294741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EXPORT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811768" y="5925312"/>
            <a:ext cx="2947416" cy="237744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Generate PDF / CSV report for the selected point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book-open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Details / Links of the reference and research work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20040" y="1572768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206240"/>
                <a:gridCol w="2331720"/>
                <a:gridCol w="219456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Organisation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Link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SIH26066 OceanEmbed problem statement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SIH · MoES / INCOIS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Scope, domain, 15 standard depths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5"/>
                        </a:rPr>
                        <a:t>sih.gov.in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INCOIS Tropical Cyclone Heat Potential service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INCOIS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Operational relevance of TCHP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6"/>
                        </a:rPr>
                        <a:t>incois.gov.in/site/services/tchp.jsp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GLORYS12V1 global ocean reanalysis (PS-named target)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Copernicus Marine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Training-target specification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7"/>
                        </a:rPr>
                        <a:t>doi.org/10.48670/moi-00021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Argo float profiles via argopy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Argo programme · Euro-Argo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validation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8"/>
                        </a:rPr>
                        <a:t>argopy.readthedocs.io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NOAA OISST v2.1 · NCEI Blended Seawinds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Satellite inputs used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9"/>
                        </a:rPr>
                        <a:t>ncei.noaa.gov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EN4 quality-controlled ocean analysis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UK Met Office Hadley Centre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cross-check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0"/>
                        </a:rPr>
                        <a:t>metoffice.gov.uk/hadobs/en4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Bay of Bengal barrier layer (Vinayachandran et al., 2002)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JGR Oceans · AGU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Why salinity is an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1"/>
                        </a:rPr>
                        <a:t>doi.org/10.1029/2001JC000831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Subsurface temperature reconstruction, ConvLSTM vs LightGBM (2022)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MDPI Remote Sensing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Model choice; thermocline is hardest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2"/>
                        </a:rPr>
                        <a:t>doi.org/10.3390/rs14133198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IBTrACS v04r01 best-track 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Real cyclone tracks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ncei.noaa.gov/products/</a:t>
                      </a:r>
                      <a:br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international-best-track-archive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4" name="Rounded Rectangle 17413">
            <a:hlinkClick r:id="rId14"/>
          </p:cNvPr>
          <p:cNvSpPr/>
          <p:nvPr/>
        </p:nvSpPr>
        <p:spPr>
          <a:xfrm>
            <a:off x="320040" y="5614416"/>
            <a:ext cx="11567160" cy="585216"/>
          </a:xfrm>
          <a:prstGeom prst="roundRect">
            <a:avLst>
              <a:gd name="adj" fmla="val 15625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448056" y="573328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6" name="Picture 17415" descr="code-xml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7550" y="5802782"/>
            <a:ext cx="208483" cy="208483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905256" y="5614416"/>
            <a:ext cx="10835640" cy="58521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Prototype source code &amp; full research artifact:  </a:t>
            </a:r>
            <a:r>
              <a:rPr sz="12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github.com/saad-46/oceanembed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·   all reported metrics are generated by the pipeline (docs/RESULTS.md)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